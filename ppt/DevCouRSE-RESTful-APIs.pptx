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5" r:id="rId2"/>
    <p:sldId id="298" r:id="rId3"/>
    <p:sldId id="300" r:id="rId4"/>
    <p:sldId id="303" r:id="rId5"/>
    <p:sldId id="323" r:id="rId6"/>
    <p:sldId id="324" r:id="rId7"/>
    <p:sldId id="325" r:id="rId8"/>
    <p:sldId id="301" r:id="rId9"/>
    <p:sldId id="30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296" r:id="rId18"/>
  </p:sldIdLst>
  <p:sldSz cx="12192000" cy="6858000"/>
  <p:notesSz cx="6858000" cy="9144000"/>
  <p:defaultTextStyle>
    <a:defPPr>
      <a:defRPr lang="en-US"/>
    </a:defPPr>
    <a:lvl1pPr marL="0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1pPr>
    <a:lvl2pPr marL="544139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2pPr>
    <a:lvl3pPr marL="1088279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3pPr>
    <a:lvl4pPr marL="1632418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4pPr>
    <a:lvl5pPr marL="2176558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5pPr>
    <a:lvl6pPr marL="272069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6pPr>
    <a:lvl7pPr marL="326483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7pPr>
    <a:lvl8pPr marL="380897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8pPr>
    <a:lvl9pPr marL="4353115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DD88"/>
    <a:srgbClr val="00693E"/>
    <a:srgbClr val="00539B"/>
    <a:srgbClr val="F01D27"/>
    <a:srgbClr val="D8C726"/>
    <a:srgbClr val="77BD43"/>
    <a:srgbClr val="F08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82" autoAdjust="0"/>
    <p:restoredTop sz="96241" autoAdjust="0"/>
  </p:normalViewPr>
  <p:slideViewPr>
    <p:cSldViewPr showGuides="1">
      <p:cViewPr varScale="1">
        <p:scale>
          <a:sx n="128" d="100"/>
          <a:sy n="128" d="100"/>
        </p:scale>
        <p:origin x="208" y="1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48" d="100"/>
          <a:sy n="48" d="100"/>
        </p:scale>
        <p:origin x="-272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25/8/2026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25/8/2026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544139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1088279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632418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2176558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272069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83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97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3115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2AB3C50-0815-4E72-B5C0-4CC01800180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D6D95E-88C9-4F51-9A96-C6DC690C4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70AC6F-A8DE-43B1-AB32-8BCC2ADD0A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510" y="184205"/>
            <a:ext cx="2700330" cy="217696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101256" indent="0" algn="l">
              <a:buFontTx/>
              <a:buNone/>
              <a:defRPr sz="984"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[Current Date]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D68E9-7018-4336-9CC4-C1AD98D094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81" y="1428599"/>
            <a:ext cx="3912001" cy="40008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8FB25-7404-4D17-BC12-C5C5BD3F89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B9713-6169-4BCA-998A-1ECD71372D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157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0" y="1413894"/>
            <a:ext cx="10896586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82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[Presentation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3327723"/>
            <a:ext cx="10901097" cy="1819999"/>
          </a:xfrm>
        </p:spPr>
        <p:txBody>
          <a:bodyPr>
            <a:normAutofit/>
          </a:bodyPr>
          <a:lstStyle>
            <a:lvl1pPr marL="0" indent="0">
              <a:buNone/>
              <a:defRPr sz="407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[Presenter Name]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B3AAE-1896-4A98-A246-9A4E80DA46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8A2211-08DC-44ED-BA4C-EA9B5E049F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413894"/>
            <a:ext cx="7849618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8528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F41DB6-5AEA-408D-A5BF-F2AA2A9AA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00AA1C-D441-4635-902A-1D05471536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47D3B9-F438-E24F-9DFF-6C0E3C11CA7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15400" y="819552"/>
            <a:ext cx="2108111" cy="55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0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1" y="1413894"/>
            <a:ext cx="7389409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3924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00A36-47BB-4418-B306-3E7E3AC14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86510" y="1426524"/>
            <a:ext cx="2724017" cy="4749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2473B-6F9B-4A83-8856-23C5641F05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56D179-7759-497B-8880-790CAAFA95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103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1" y="1413894"/>
            <a:ext cx="7389409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3924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25145-F8C2-435E-83DA-3C6BFFE3B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91889" y="2389194"/>
            <a:ext cx="2774745" cy="2792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A09E0F-9A3D-42E9-BF40-D380876817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F43727-5D9C-4050-8B4D-49535AB73D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394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6EFBB34-E7A6-446F-8461-EDE7FE5D0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11546007" cy="4127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8288C-36FD-45F0-A3A9-714884425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83047" y="184261"/>
            <a:ext cx="7425906" cy="217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7881E-E143-4217-816A-8C4E380EDD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0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3057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37B9FB-8EDC-4415-A524-2F201C573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7635-3CC7-4ECB-95A2-A2A3336B0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B0B422-09F3-401B-BCC9-0BD19CBF8F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79A268-DC64-46CE-B24E-6EA4998BFC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0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30577" y="2365635"/>
            <a:ext cx="5636938" cy="4127304"/>
          </a:xfrm>
        </p:spPr>
        <p:txBody>
          <a:bodyPr>
            <a:normAutofit/>
          </a:bodyPr>
          <a:lstStyle>
            <a:lvl1pPr marL="202512" indent="-202512">
              <a:buFont typeface="+mj-lt"/>
              <a:buAutoNum type="arabi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1pPr>
            <a:lvl2pPr marL="405023" indent="-202512">
              <a:buFont typeface="+mj-lt"/>
              <a:buAutoNum type="alphaL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2pPr>
            <a:lvl3pPr marL="607535" indent="-202046">
              <a:buFont typeface="+mj-lt"/>
              <a:buAutoNum type="romanL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3pPr>
            <a:lvl4pPr marL="810046" indent="-202512">
              <a:buFont typeface="+mj-lt"/>
              <a:buAutoNum type="arabi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4pPr>
            <a:lvl5pPr marL="1012558" indent="-202512">
              <a:buFont typeface="+mj-lt"/>
              <a:buAutoNum type="alphaLcPeriod"/>
              <a:defRPr lang="en-US" sz="1600" b="0" i="0" dirty="0">
                <a:latin typeface="National 2" charset="0"/>
                <a:ea typeface="National 2" charset="0"/>
                <a:cs typeface="National 2" charset="0"/>
              </a:defRPr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37B9FB-8EDC-4415-A524-2F201C573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7635-3CC7-4ECB-95A2-A2A3336B0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222980-9FEA-47AB-8160-1C29597532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9DED6-E107-4AF2-B3B8-51B167296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1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3"/>
            <a:ext cx="6853375" cy="51014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77E974-6222-4E14-8F53-1A35F8F2D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A0BD44-827B-47CD-8BFA-2A4BD387B4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0"/>
            <a:ext cx="6853375" cy="345544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3957F-CBD5-45F4-9139-BE2AD9F3D7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7466EE-1402-4AD3-84F3-D1DF7AB79A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0"/>
            <a:ext cx="6853375" cy="345544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C70461-48C5-43F7-8FBF-36F351503D81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014594" y="4925838"/>
            <a:ext cx="2939950" cy="156710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945B0B-FD87-427B-B1C8-DF115B45F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54FC01-F717-4A46-B98F-96CECAD73C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36129" y="257"/>
            <a:ext cx="7155873" cy="685774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246362"/>
            <a:ext cx="1288500" cy="1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7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Text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2"/>
            <a:ext cx="7155873" cy="685774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1383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8747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B49BA5-9018-4446-A86F-4EE58D717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83DCC-83B4-4DDF-A2DD-53EA890722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246362"/>
            <a:ext cx="1288500" cy="134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6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34298" y="2367188"/>
            <a:ext cx="7425906" cy="4126295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321508" y="2365636"/>
            <a:ext cx="3708586" cy="4126295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15CE4-9C5B-4DD4-9334-613E584A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10B5A-E47F-4858-B45E-5B1BEE8B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2C6C2-929C-48AB-A46A-05FC0AD9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08A26F-06F2-4E9D-90D3-59B5F05170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F2FEF4-AC70-4D84-9B67-5A54BD0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8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1508" y="2365638"/>
            <a:ext cx="7441994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8141451" y="2365639"/>
            <a:ext cx="3712953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D7C67-E5F6-43C5-997F-6434DA21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84D73-4796-4164-B818-FA3C28E0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62CB5-7592-412B-8108-8BFA3C6D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0F9683-AEE5-4C7C-8337-8F0333B05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A82EE6-5B2A-4D35-9636-3FF0F8DEBC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2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1511" y="2365636"/>
            <a:ext cx="11543658" cy="1974696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8777" y="4495699"/>
            <a:ext cx="11543658" cy="1974696"/>
          </a:xfr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DFF93-5525-475A-BA2F-1F0C4F78D5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E2A29-28F0-4172-8807-541DB74FB8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E7CF56-F1E5-4795-9265-7AD96EC856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89AB79-1006-4785-9565-5855A6C46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E5D8E-5794-4172-9477-A462C7ED6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257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352C9B-A878-4E28-8F19-9BFE09A0DF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FD2763-69FC-4FBC-A018-A5B79D9BF1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77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88F8E-C995-44E9-88C3-777D604D7D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257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22DE8C-193B-40D2-86E4-37390E84C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2B9284-71F9-4742-8BC8-CBD640B6E8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22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E66D3-31E0-4E7E-974A-CBAF78AFB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130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8D64DB-0525-4239-B7EF-7462FB2A8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135A38-8B72-4CF7-A576-8AB549768E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6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27E38-93E1-4C04-83A5-FBD94BE75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51525" y="1108171"/>
            <a:ext cx="1787218" cy="4683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6DF0E0-E4B3-49BF-A9CB-B5C1AC69E3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2FCC1-F0E2-4D15-B831-1642D56F9D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33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605E55-8F6E-49C2-A14D-4F7EA9A247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681536" y="1396696"/>
            <a:ext cx="3951494" cy="3976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49E37B-FA5B-427F-9B9C-C22AEEF464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6D3671-8BF4-4081-90DB-6B512B6793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740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36A6A2-B679-4575-A369-2D9B0C8811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6751" y="1126129"/>
            <a:ext cx="2724017" cy="47493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B8E51D-8667-4AE7-98D9-FD5D60E1E0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C0D460-F225-460B-BB60-8A16237213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82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352808"/>
            <a:ext cx="11537524" cy="441758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3200" b="0" i="0">
                <a:solidFill>
                  <a:schemeClr val="bg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r>
              <a:rPr lang="en-US" dirty="0"/>
              <a:t>“[Quote text]”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9" y="5848948"/>
            <a:ext cx="11546006" cy="216889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pPr lvl="0"/>
            <a:r>
              <a:rPr lang="en-US" dirty="0"/>
              <a:t>[Full name]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828162-76A4-4AEF-9328-B54FAF065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029" y="6038901"/>
            <a:ext cx="11546006" cy="2171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[Position]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3E30FE-911C-4ADA-B031-2626594EC7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3744D0-0577-40DE-9622-1088015D05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BB920-9A5A-4DA9-9ECA-1DF946B9A6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58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C4D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352808"/>
            <a:ext cx="11537524" cy="441758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3164" b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“[Quote text]”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9" y="5848948"/>
            <a:ext cx="11546006" cy="216889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accent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pPr lvl="0"/>
            <a:r>
              <a:rPr lang="en-US" dirty="0"/>
              <a:t>[Full name]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828162-76A4-4AEF-9328-B54FAF065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029" y="6038901"/>
            <a:ext cx="11546006" cy="2171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[Position]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B8BFB0-2A25-45AC-80CE-669E6F62B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F33D4B-5C12-45EC-88B7-C00C2123C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2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71191" y="2246444"/>
            <a:ext cx="7849618" cy="2531891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118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[Thank you or sign off]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D5A8B4-6E78-422A-AF69-97326A6A7C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D54034-1F98-4E5C-A6EA-29A83535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9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5673CE-2DC8-4BC7-8474-7FD9AEAE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B1A7F-3E6C-4BDA-A873-12B2FD961F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0EA49-7B36-455E-A863-61CF191F5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0F960-7B3B-462A-AC2C-5591D20826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EE6E5A-4BD9-4D77-8176-009D70AE84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0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105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404147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425" y="1391440"/>
            <a:ext cx="11546007" cy="923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508" y="2365585"/>
            <a:ext cx="11546007" cy="413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3047" y="184261"/>
            <a:ext cx="7425906" cy="217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accent1"/>
                </a:solidFill>
                <a:latin typeface="National 2" charset="0"/>
                <a:ea typeface="National 2" charset="0"/>
                <a:cs typeface="National 2" charset="0"/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41686" y="6551473"/>
            <a:ext cx="523374" cy="217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84"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7EBB2-CF3F-A9BE-463B-B395F406C750}"/>
              </a:ext>
            </a:extLst>
          </p:cNvPr>
          <p:cNvSpPr txBox="1"/>
          <p:nvPr userDrawn="1"/>
        </p:nvSpPr>
        <p:spPr>
          <a:xfrm>
            <a:off x="3848100" y="6596390"/>
            <a:ext cx="449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https://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dartgo.org</a:t>
            </a:r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/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devcourse</a:t>
            </a:r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-restful-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apis</a:t>
            </a:r>
            <a:endParaRPr lang="en-US" sz="1100" dirty="0">
              <a:solidFill>
                <a:schemeClr val="accent1"/>
              </a:solidFill>
              <a:latin typeface="National 2" panose="020B0504030502020203" pitchFamily="34" charset="77"/>
            </a:endParaRPr>
          </a:p>
          <a:p>
            <a:pPr algn="ctr"/>
            <a:endParaRPr lang="en-US" sz="1100" dirty="0">
              <a:solidFill>
                <a:schemeClr val="accent1"/>
              </a:solidFill>
              <a:latin typeface="National 2" panose="020B0504030502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2" r:id="rId2"/>
    <p:sldLayoutId id="2147483764" r:id="rId3"/>
    <p:sldLayoutId id="2147483765" r:id="rId4"/>
    <p:sldLayoutId id="2147483766" r:id="rId5"/>
    <p:sldLayoutId id="2147483650" r:id="rId6"/>
    <p:sldLayoutId id="2147483652" r:id="rId7"/>
    <p:sldLayoutId id="2147483779" r:id="rId8"/>
    <p:sldLayoutId id="2147483761" r:id="rId9"/>
    <p:sldLayoutId id="2147483767" r:id="rId10"/>
    <p:sldLayoutId id="2147483768" r:id="rId11"/>
    <p:sldLayoutId id="2147483769" r:id="rId12"/>
    <p:sldLayoutId id="2147483770" r:id="rId13"/>
    <p:sldLayoutId id="2147483782" r:id="rId14"/>
    <p:sldLayoutId id="2147483777" r:id="rId15"/>
    <p:sldLayoutId id="2147483778" r:id="rId16"/>
    <p:sldLayoutId id="2147483728" r:id="rId17"/>
    <p:sldLayoutId id="2147483773" r:id="rId18"/>
    <p:sldLayoutId id="2147483771" r:id="rId19"/>
    <p:sldLayoutId id="2147483772" r:id="rId20"/>
    <p:sldLayoutId id="2147483774" r:id="rId21"/>
    <p:sldLayoutId id="2147483776" r:id="rId22"/>
    <p:sldLayoutId id="2147483775" r:id="rId23"/>
    <p:sldLayoutId id="2147483780" r:id="rId24"/>
    <p:sldLayoutId id="2147483781" r:id="rId25"/>
    <p:sldLayoutId id="2147483783" r:id="rId26"/>
    <p:sldLayoutId id="2147483654" r:id="rId27"/>
    <p:sldLayoutId id="2147483655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42974" rtl="0" eaLnBrk="1" latinLnBrk="0" hangingPunct="1">
        <a:lnSpc>
          <a:spcPct val="85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National 2 Medium" charset="0"/>
          <a:ea typeface="National 2 Medium" charset="0"/>
          <a:cs typeface="National 2 Medium" charset="0"/>
        </a:defRPr>
      </a:lvl1pPr>
    </p:titleStyle>
    <p:bodyStyle>
      <a:lvl1pPr marL="1828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1pPr>
      <a:lvl2pPr marL="6400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2pPr>
      <a:lvl3pPr marL="10972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3pPr>
      <a:lvl4pPr marL="15544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 baseline="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4pPr>
      <a:lvl5pPr marL="2011680" indent="-285750" algn="l" defTabSz="642974" rtl="0" eaLnBrk="1" latinLnBrk="0" hangingPunct="1">
        <a:spcBef>
          <a:spcPts val="422"/>
        </a:spcBef>
        <a:spcAft>
          <a:spcPts val="211"/>
        </a:spcAft>
        <a:buClr>
          <a:schemeClr val="accent1"/>
        </a:buClr>
        <a:buFont typeface="Arial" charset="0"/>
        <a:buChar char="•"/>
        <a:defRPr sz="1406" b="0" i="0" kern="1200" baseline="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5pPr>
      <a:lvl6pPr marL="24688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1406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2089666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7pPr>
      <a:lvl8pPr marL="2411153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8pPr>
      <a:lvl9pPr marL="2732640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1pPr>
      <a:lvl2pPr marL="321487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2pPr>
      <a:lvl3pPr marL="642974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3pPr>
      <a:lvl4pPr marL="964461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4pPr>
      <a:lvl5pPr marL="1285948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5pPr>
      <a:lvl6pPr marL="1607435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6pPr>
      <a:lvl7pPr marL="1928923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7pPr>
      <a:lvl8pPr marL="2250409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8pPr>
      <a:lvl9pPr marL="2571896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90" userDrawn="1">
          <p15:clr>
            <a:srgbClr val="F26B43"/>
          </p15:clr>
        </p15:guide>
        <p15:guide id="2" pos="7476" userDrawn="1">
          <p15:clr>
            <a:srgbClr val="F26B43"/>
          </p15:clr>
        </p15:guide>
        <p15:guide id="3" pos="203" userDrawn="1">
          <p15:clr>
            <a:srgbClr val="F26B43"/>
          </p15:clr>
        </p15:guide>
        <p15:guide id="4" orient="horz" pos="14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print" TargetMode="External"/><Relationship Id="rId2" Type="http://schemas.openxmlformats.org/officeDocument/2006/relationships/hyperlink" Target="https://docs.python.org/3/library/stdtypes.html#str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cs.python.org/3/library/sys.html#sys.stdou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org&amp;utm_campaign=index&amp;utm_content=thumbnai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35C01E-D909-40CC-85FF-D38BFFAA4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 dirty="0"/>
              <a:t>2026-09-03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FB0B02-7277-430E-84EF-813911035E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</a:t>
            </a:fld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F5BEDD-BBEA-445F-915D-71CD103775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35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21510" y="3429000"/>
            <a:ext cx="11543550" cy="1143000"/>
          </a:xfrm>
        </p:spPr>
        <p:txBody>
          <a:bodyPr/>
          <a:lstStyle/>
          <a:p>
            <a:r>
              <a:rPr lang="en-US" sz="5400" dirty="0">
                <a:latin typeface="National 2 Medium" panose="020B0504030502020203" pitchFamily="34" charset="77"/>
              </a:rPr>
              <a:t>RESTful APIs with Python</a:t>
            </a:r>
            <a:br>
              <a:rPr lang="en-US" sz="5400" dirty="0">
                <a:latin typeface="National 2 Medium" panose="020B0504030502020203" pitchFamily="34" charset="77"/>
              </a:rPr>
            </a:br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A </a:t>
            </a:r>
            <a:r>
              <a:rPr lang="en-US" sz="4800" dirty="0" err="1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DevCouRSE</a:t>
            </a:r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 Workshop</a:t>
            </a:r>
            <a:br>
              <a:rPr lang="en-US" sz="5400" b="1" dirty="0"/>
            </a:br>
            <a:br>
              <a:rPr lang="en-US" sz="2800" dirty="0">
                <a:latin typeface="National 2" panose="020B0504030502020203" pitchFamily="34" charset="77"/>
              </a:rPr>
            </a:br>
            <a:endParaRPr lang="en-AU" sz="5400" dirty="0">
              <a:latin typeface="National 2" panose="020B0504030502020203" pitchFamily="34" charset="77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21510" y="4953000"/>
            <a:ext cx="8176156" cy="1519166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Tim Meehan, Simon Stone</a:t>
            </a:r>
          </a:p>
          <a:p>
            <a:r>
              <a:rPr lang="en-AU" i="1" dirty="0"/>
              <a:t>Research Computing @ ITC, Dartmouth College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FAC0A-3611-47AD-9FCA-134C1587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3791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21D27B5-09E3-3C13-1C0C-52A2BDFF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11" y="3124200"/>
            <a:ext cx="7389409" cy="2015106"/>
          </a:xfrm>
        </p:spPr>
        <p:txBody>
          <a:bodyPr/>
          <a:lstStyle/>
          <a:p>
            <a:r>
              <a:rPr lang="en-US" dirty="0"/>
              <a:t>See APIs in action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3B5136-2AE2-A09E-C497-C57D1C924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1508" y="4075945"/>
            <a:ext cx="7392468" cy="1620391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dartgo.org</a:t>
            </a:r>
            <a:r>
              <a:rPr lang="en-US" dirty="0"/>
              <a:t>/</a:t>
            </a:r>
            <a:r>
              <a:rPr lang="en-US" dirty="0" err="1"/>
              <a:t>devcourse</a:t>
            </a:r>
            <a:r>
              <a:rPr lang="en-US" dirty="0"/>
              <a:t>-</a:t>
            </a:r>
            <a:r>
              <a:rPr lang="en-US" dirty="0" err="1"/>
              <a:t>api</a:t>
            </a:r>
            <a:r>
              <a:rPr lang="en-US" dirty="0"/>
              <a:t>-demo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CD0B6-974F-CF49-FF66-6C304167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F653B-BF63-BA0E-BB43-9CCD5544F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7731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DDB33E-DB0A-06D7-B778-D0D01BB6ED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anchor="t">
            <a:normAutofit/>
          </a:bodyPr>
          <a:lstStyle/>
          <a:p>
            <a:pPr marL="461962" indent="-457200">
              <a:buSzPct val="80000"/>
              <a:buFont typeface="System Font Regular"/>
              <a:buChar char="☝️"/>
            </a:pPr>
            <a:r>
              <a:rPr lang="en-US" dirty="0">
                <a:latin typeface="National 2" panose="020B0504030502020203" pitchFamily="34" charset="77"/>
              </a:rPr>
              <a:t>API stands for Application Programming Interface</a:t>
            </a:r>
          </a:p>
          <a:p>
            <a:pPr marL="461962" indent="-457200">
              <a:buSzPct val="80000"/>
              <a:buFont typeface="System Font Regular"/>
              <a:buChar char="☝️"/>
            </a:pPr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C3D70B-F697-CE72-CC1A-0129AD1D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73267-12C3-5AF1-40CD-D6E195026C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D214A-B78A-621F-824E-1B58D4E120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137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B9363-0028-DBA6-5AE9-18F59C1FBB2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342900" indent="-388938">
              <a:buSzPct val="80000"/>
              <a:buFont typeface="System Font Regular"/>
              <a:buChar char="🧩"/>
            </a:pPr>
            <a:r>
              <a:rPr lang="en-US" dirty="0"/>
              <a:t>A piece of software can be thought of in two parts: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How it does what it does (the </a:t>
            </a:r>
            <a:r>
              <a:rPr lang="en-US" i="1" dirty="0"/>
              <a:t>implementation</a:t>
            </a:r>
            <a:r>
              <a:rPr lang="en-US" dirty="0"/>
              <a:t>)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What the user of the software needs to put in and what they can get out (the </a:t>
            </a:r>
            <a:r>
              <a:rPr lang="en-US" i="1" dirty="0"/>
              <a:t>interface</a:t>
            </a:r>
            <a:r>
              <a:rPr lang="en-US" dirty="0"/>
              <a:t>)</a:t>
            </a:r>
          </a:p>
          <a:p>
            <a:pPr marL="342900" indent="-388938">
              <a:buSzPct val="80000"/>
              <a:buFont typeface="System Font Regular"/>
              <a:buChar char="🤷"/>
            </a:pPr>
            <a:r>
              <a:rPr lang="en-US" dirty="0"/>
              <a:t>The implementation rarely matters to a user</a:t>
            </a:r>
          </a:p>
          <a:p>
            <a:pPr marL="400050" indent="-395288">
              <a:buSzPct val="80000"/>
              <a:buFont typeface="System Font Regular"/>
              <a:buChar char="💯"/>
            </a:pPr>
            <a:r>
              <a:rPr lang="en-US" dirty="0"/>
              <a:t>The interface is all we need to know to use the software</a:t>
            </a:r>
          </a:p>
          <a:p>
            <a:pPr marL="400050" indent="-400050">
              <a:buSzPct val="80000"/>
              <a:buFont typeface="System Font Regular"/>
              <a:buChar char="👌"/>
            </a:pPr>
            <a:r>
              <a:rPr lang="en-US" dirty="0"/>
              <a:t>The implementation may change, as long as the interface stays the same</a:t>
            </a:r>
          </a:p>
          <a:p>
            <a:pPr marL="400050" indent="-446088">
              <a:buSzPct val="80000"/>
              <a:buFont typeface="System Font Regular"/>
              <a:buChar char="🤝"/>
            </a:pPr>
            <a:r>
              <a:rPr lang="en-US" dirty="0"/>
              <a:t>The interface is a contract between the program and the user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1B3FD-D36E-3FAB-632E-1474A3B7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interface?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(in software design)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242C7-E2D4-8843-F88F-38439C33F6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6758C-2F79-CBC4-702A-380F8C6F29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1871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B9363-0028-DBA6-5AE9-18F59C1FBB2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National 2 Medium" panose="020B0504030502020203" pitchFamily="34" charset="77"/>
              </a:rPr>
              <a:t>Example: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1B3FD-D36E-3FAB-632E-1474A3B7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interface?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(in software design)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242C7-E2D4-8843-F88F-38439C33F6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6758C-2F79-CBC4-702A-380F8C6F29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21752-7164-50EE-130F-897EF19A02C7}"/>
              </a:ext>
            </a:extLst>
          </p:cNvPr>
          <p:cNvSpPr txBox="1"/>
          <p:nvPr/>
        </p:nvSpPr>
        <p:spPr>
          <a:xfrm>
            <a:off x="3124200" y="2434206"/>
            <a:ext cx="7316766" cy="433432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rPr>
              <a:t>p</a:t>
            </a:r>
            <a:r>
              <a:rPr lang="en-US" sz="1600" b="1" dirty="0">
                <a:effectLst/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rPr>
              <a:t>rint</a:t>
            </a:r>
            <a:r>
              <a:rPr lang="en-US" sz="1600" dirty="0">
                <a:latin typeface="ui-monospace"/>
              </a:rPr>
              <a:t>(</a:t>
            </a:r>
            <a:r>
              <a:rPr lang="en-US" sz="1600" b="0" i="1" dirty="0">
                <a:effectLst/>
                <a:latin typeface="ui-monospace"/>
              </a:rPr>
              <a:t>*objects</a:t>
            </a:r>
            <a:r>
              <a:rPr lang="en-US" sz="1600" b="0" i="0" dirty="0">
                <a:effectLst/>
                <a:latin typeface="ui-monospace"/>
              </a:rPr>
              <a:t>, </a:t>
            </a:r>
            <a:r>
              <a:rPr lang="en-US" sz="1600" b="0" i="1" dirty="0" err="1">
                <a:effectLst/>
                <a:latin typeface="ui-monospace"/>
              </a:rPr>
              <a:t>sep</a:t>
            </a:r>
            <a:r>
              <a:rPr lang="en-US" sz="1600" b="0" i="1" dirty="0">
                <a:effectLst/>
                <a:latin typeface="ui-monospace"/>
              </a:rPr>
              <a:t>=' '</a:t>
            </a:r>
            <a:r>
              <a:rPr lang="en-US" sz="1600" b="0" i="0" dirty="0">
                <a:effectLst/>
                <a:latin typeface="ui-monospace"/>
              </a:rPr>
              <a:t>, </a:t>
            </a:r>
            <a:r>
              <a:rPr lang="en-US" sz="1600" b="0" i="1" dirty="0">
                <a:effectLst/>
                <a:latin typeface="ui-monospace"/>
              </a:rPr>
              <a:t>end='\n'</a:t>
            </a:r>
            <a:r>
              <a:rPr lang="en-US" sz="1600" b="0" i="0" dirty="0">
                <a:effectLst/>
                <a:latin typeface="ui-monospace"/>
              </a:rPr>
              <a:t>, </a:t>
            </a:r>
            <a:r>
              <a:rPr lang="en-US" sz="1600" b="0" i="1" dirty="0">
                <a:effectLst/>
                <a:latin typeface="ui-monospace"/>
              </a:rPr>
              <a:t>file=None</a:t>
            </a:r>
            <a:r>
              <a:rPr lang="en-US" sz="1600" b="0" i="0" dirty="0">
                <a:effectLst/>
                <a:latin typeface="ui-monospace"/>
              </a:rPr>
              <a:t>, </a:t>
            </a:r>
            <a:r>
              <a:rPr lang="en-US" sz="1600" b="0" i="1" dirty="0">
                <a:effectLst/>
                <a:latin typeface="ui-monospace"/>
              </a:rPr>
              <a:t>flush=False</a:t>
            </a:r>
            <a:r>
              <a:rPr lang="en-US" sz="1600" dirty="0">
                <a:latin typeface="ui-monospace"/>
              </a:rPr>
              <a:t>)</a:t>
            </a:r>
          </a:p>
          <a:p>
            <a:pPr marL="230188" lvl="1">
              <a:lnSpc>
                <a:spcPct val="110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Print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objects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to the text stream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file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, separated by </a:t>
            </a:r>
            <a:r>
              <a:rPr lang="en-US" sz="1400" i="1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sep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and followed by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end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. </a:t>
            </a:r>
            <a:r>
              <a:rPr lang="en-US" sz="1400" i="1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sep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,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end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,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file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, and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flush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, if present, must be given as keyword arguments.</a:t>
            </a:r>
          </a:p>
          <a:p>
            <a:pPr marL="230188" lvl="1">
              <a:lnSpc>
                <a:spcPct val="110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All non-keyword arguments are converted to strings like </a:t>
            </a:r>
            <a:r>
              <a:rPr lang="en-US" sz="1400" u="none" strike="noStrike" dirty="0">
                <a:solidFill>
                  <a:srgbClr val="77AAFF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  <a:hlinkClick r:id="rId2" tooltip="str"/>
              </a:rPr>
              <a:t>str()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does and written to the stream, separated by </a:t>
            </a:r>
            <a:r>
              <a:rPr lang="en-US" sz="1400" i="1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sep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and followed by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end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. Both </a:t>
            </a:r>
            <a:r>
              <a:rPr lang="en-US" sz="1400" i="1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sep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and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end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must be strings; they can also be None, which means to use the default values. If no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objects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are given, </a:t>
            </a:r>
            <a:r>
              <a:rPr lang="en-US" sz="1400" u="none" strike="noStrike" dirty="0">
                <a:solidFill>
                  <a:srgbClr val="77AAFF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  <a:hlinkClick r:id="rId3" tooltip="print"/>
              </a:rPr>
              <a:t>print()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will just write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end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.</a:t>
            </a:r>
          </a:p>
          <a:p>
            <a:pPr marL="230188" lvl="1">
              <a:lnSpc>
                <a:spcPct val="110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The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file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argument must be an object with a write(string) method; if it is not present or None, </a:t>
            </a:r>
            <a:r>
              <a:rPr lang="en-US" sz="1400" u="none" strike="noStrike" dirty="0">
                <a:solidFill>
                  <a:srgbClr val="77AAFF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  <a:hlinkClick r:id="rId4" tooltip="sys.stdout"/>
              </a:rPr>
              <a:t>sys.stdout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will be used. Since printed arguments are converted to text strings, </a:t>
            </a:r>
            <a:r>
              <a:rPr lang="en-US" sz="1400" u="none" strike="noStrike" dirty="0">
                <a:solidFill>
                  <a:srgbClr val="77AAFF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  <a:hlinkClick r:id="rId3" tooltip="print"/>
              </a:rPr>
              <a:t>print()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cannot be used with binary mode file objects. For these, use </a:t>
            </a:r>
            <a:r>
              <a:rPr lang="en-US" sz="1400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file.write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(...) instead.</a:t>
            </a:r>
          </a:p>
          <a:p>
            <a:pPr marL="230188" lvl="1">
              <a:lnSpc>
                <a:spcPct val="110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Output buffering is usually determined by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file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. However, if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flush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is true, the stream is forcibly flushed.</a:t>
            </a:r>
          </a:p>
          <a:p>
            <a:pPr marL="230188" lvl="1">
              <a:lnSpc>
                <a:spcPct val="110000"/>
              </a:lnSpc>
              <a:spcAft>
                <a:spcPts val="600"/>
              </a:spcAft>
            </a:pP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Changed in version 3.3: 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Added the </a:t>
            </a:r>
            <a:r>
              <a:rPr lang="en-US" sz="1400" i="1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flush</a:t>
            </a:r>
            <a:r>
              <a:rPr lang="en-US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 keyword argument.</a:t>
            </a:r>
          </a:p>
          <a:p>
            <a:pPr marL="230188" lvl="1" algn="r">
              <a:lnSpc>
                <a:spcPct val="110000"/>
              </a:lnSpc>
              <a:spcAft>
                <a:spcPts val="600"/>
              </a:spcAft>
            </a:pPr>
            <a:r>
              <a:rPr lang="en-US" sz="1050" dirty="0">
                <a:solidFill>
                  <a:schemeClr val="accent6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Source: https://</a:t>
            </a:r>
            <a:r>
              <a:rPr lang="en-US" sz="1050" dirty="0" err="1">
                <a:solidFill>
                  <a:schemeClr val="accent6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docs.python.org</a:t>
            </a:r>
            <a:r>
              <a:rPr lang="en-US" sz="1050" dirty="0">
                <a:solidFill>
                  <a:schemeClr val="accent6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/3/library/</a:t>
            </a:r>
            <a:r>
              <a:rPr lang="en-US" sz="1050" dirty="0" err="1">
                <a:solidFill>
                  <a:schemeClr val="accent6"/>
                </a:solidFill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functions.html#print</a:t>
            </a:r>
            <a:endParaRPr lang="en-US" sz="1050" dirty="0">
              <a:solidFill>
                <a:schemeClr val="accent6"/>
              </a:solidFill>
              <a:effectLst/>
              <a:latin typeface="Lucida Grande" panose="020B0600040502020204" pitchFamily="34" charset="0"/>
              <a:cs typeface="Lucida Grande" panose="020B06000405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FAD67F-A6E9-000F-1247-D6EBAEED9523}"/>
              </a:ext>
            </a:extLst>
          </p:cNvPr>
          <p:cNvGrpSpPr/>
          <p:nvPr/>
        </p:nvGrpSpPr>
        <p:grpSpPr>
          <a:xfrm>
            <a:off x="3200400" y="1990173"/>
            <a:ext cx="4724400" cy="521524"/>
            <a:chOff x="3200400" y="1990173"/>
            <a:chExt cx="4724400" cy="521524"/>
          </a:xfrm>
        </p:grpSpPr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F9F5945D-C42A-A869-BB42-89EA59777F20}"/>
                </a:ext>
              </a:extLst>
            </p:cNvPr>
            <p:cNvSpPr/>
            <p:nvPr/>
          </p:nvSpPr>
          <p:spPr>
            <a:xfrm rot="5400000">
              <a:off x="5450825" y="37722"/>
              <a:ext cx="223550" cy="4724400"/>
            </a:xfrm>
            <a:prstGeom prst="leftBrac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CC4642-9464-6E24-97A6-D02F1F3DB43D}"/>
                </a:ext>
              </a:extLst>
            </p:cNvPr>
            <p:cNvSpPr txBox="1"/>
            <p:nvPr/>
          </p:nvSpPr>
          <p:spPr>
            <a:xfrm>
              <a:off x="5012609" y="1990173"/>
              <a:ext cx="1157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Interface </a:t>
              </a:r>
              <a:endParaRPr lang="en-US" dirty="0">
                <a:solidFill>
                  <a:schemeClr val="accent1"/>
                </a:solidFill>
                <a:latin typeface="National 2" panose="020B0504030502020203" pitchFamily="34" charset="77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F57471-33E0-A3F8-698C-B639DB235820}"/>
              </a:ext>
            </a:extLst>
          </p:cNvPr>
          <p:cNvGrpSpPr/>
          <p:nvPr/>
        </p:nvGrpSpPr>
        <p:grpSpPr>
          <a:xfrm>
            <a:off x="184026" y="2850449"/>
            <a:ext cx="3244974" cy="3169351"/>
            <a:chOff x="184026" y="2850449"/>
            <a:chExt cx="3244974" cy="3169351"/>
          </a:xfrm>
        </p:grpSpPr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B33D4C20-E3C2-A721-2DF0-256F8B6E97BC}"/>
                </a:ext>
              </a:extLst>
            </p:cNvPr>
            <p:cNvSpPr/>
            <p:nvPr/>
          </p:nvSpPr>
          <p:spPr>
            <a:xfrm>
              <a:off x="3124200" y="2850449"/>
              <a:ext cx="304800" cy="3169351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7AC5A7-46F9-C47C-7743-A2B94DF8174F}"/>
                </a:ext>
              </a:extLst>
            </p:cNvPr>
            <p:cNvSpPr txBox="1"/>
            <p:nvPr/>
          </p:nvSpPr>
          <p:spPr>
            <a:xfrm>
              <a:off x="184026" y="4248543"/>
              <a:ext cx="3244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Description of the interface</a:t>
              </a:r>
              <a:endParaRPr lang="en-US" dirty="0">
                <a:solidFill>
                  <a:schemeClr val="accent1"/>
                </a:solidFill>
                <a:latin typeface="National 2" panose="020B0504030502020203" pitchFamily="34" charset="77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45695D-351F-7A08-F5E8-0C63FBC03FBF}"/>
              </a:ext>
            </a:extLst>
          </p:cNvPr>
          <p:cNvGrpSpPr/>
          <p:nvPr/>
        </p:nvGrpSpPr>
        <p:grpSpPr>
          <a:xfrm>
            <a:off x="381000" y="5767523"/>
            <a:ext cx="3549774" cy="523220"/>
            <a:chOff x="381000" y="5767523"/>
            <a:chExt cx="3549774" cy="5232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7A283E-1EBD-775A-588C-F6911F18CF2D}"/>
                </a:ext>
              </a:extLst>
            </p:cNvPr>
            <p:cNvSpPr txBox="1"/>
            <p:nvPr/>
          </p:nvSpPr>
          <p:spPr>
            <a:xfrm>
              <a:off x="381000" y="5767523"/>
              <a:ext cx="35497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Notification of a change </a:t>
              </a:r>
              <a:br>
                <a:rPr lang="en-US" sz="1400" dirty="0">
                  <a:solidFill>
                    <a:schemeClr val="accent1"/>
                  </a:solidFill>
                  <a:latin typeface="National 2" panose="020B0504030502020203" pitchFamily="34" charset="77"/>
                </a:rPr>
              </a:br>
              <a:r>
                <a:rPr lang="en-US" sz="14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in the “contract”</a:t>
              </a:r>
              <a:endParaRPr lang="en-US" sz="1800" dirty="0">
                <a:solidFill>
                  <a:schemeClr val="accent1"/>
                </a:solidFill>
                <a:latin typeface="National 2" panose="020B0504030502020203" pitchFamily="34" charset="77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E66BF80-2A3D-179A-434E-49B446855A03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00" y="6070493"/>
              <a:ext cx="1524000" cy="1779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8AE50-BFD2-C189-23AE-C388CDC42B3D}"/>
              </a:ext>
            </a:extLst>
          </p:cNvPr>
          <p:cNvSpPr/>
          <p:nvPr/>
        </p:nvSpPr>
        <p:spPr>
          <a:xfrm>
            <a:off x="10557197" y="3954619"/>
            <a:ext cx="1447800" cy="1293502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National 2" panose="020B0504030502020203" pitchFamily="34" charset="77"/>
              </a:rPr>
              <a:t>No </a:t>
            </a:r>
            <a:r>
              <a:rPr lang="en-US" sz="1800" dirty="0" err="1">
                <a:latin typeface="National 2" panose="020B0504030502020203" pitchFamily="34" charset="77"/>
              </a:rPr>
              <a:t>imple</a:t>
            </a:r>
            <a:r>
              <a:rPr lang="en-US" sz="1800" dirty="0">
                <a:latin typeface="National 2" panose="020B0504030502020203" pitchFamily="34" charset="77"/>
              </a:rPr>
              <a:t>-mentation details!</a:t>
            </a:r>
          </a:p>
        </p:txBody>
      </p:sp>
    </p:spTree>
    <p:extLst>
      <p:ext uri="{BB962C8B-B14F-4D97-AF65-F5344CB8AC3E}">
        <p14:creationId xmlns:p14="http://schemas.microsoft.com/office/powerpoint/2010/main" val="1692903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DDB33E-DB0A-06D7-B778-D0D01BB6ED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anchor="t">
            <a:normAutofit lnSpcReduction="10000"/>
          </a:bodyPr>
          <a:lstStyle/>
          <a:p>
            <a:pPr marL="461962" indent="-457200">
              <a:buSzPct val="80000"/>
              <a:buFont typeface="System Font Regular"/>
              <a:buChar char="☝️"/>
            </a:pPr>
            <a:r>
              <a:rPr lang="en-US" dirty="0">
                <a:latin typeface="National 2" panose="020B0504030502020203" pitchFamily="34" charset="77"/>
              </a:rPr>
              <a:t>API stands for Application Programming Interface</a:t>
            </a:r>
          </a:p>
          <a:p>
            <a:pPr marL="461962" indent="-457200">
              <a:buSzPct val="80000"/>
              <a:buFont typeface="System Font Regular"/>
              <a:buChar char="🧱"/>
            </a:pPr>
            <a:r>
              <a:rPr lang="en-US" dirty="0">
                <a:latin typeface="National 2" panose="020B0504030502020203" pitchFamily="34" charset="77"/>
              </a:rPr>
              <a:t>It allows us to use someone else’s “code blocks” to build applications/programs/scripts</a:t>
            </a:r>
          </a:p>
          <a:p>
            <a:pPr marL="401638" indent="-392113">
              <a:buSzPct val="80000"/>
              <a:buFont typeface="System Font Regular"/>
              <a:buChar char="😶‍🌫️"/>
            </a:pPr>
            <a:r>
              <a:rPr lang="en-US" dirty="0"/>
              <a:t>A good API hides implementation details</a:t>
            </a:r>
          </a:p>
          <a:p>
            <a:pPr marL="401638" indent="-392113">
              <a:buSzPct val="80000"/>
              <a:buFont typeface="System Font Regular"/>
              <a:buChar char="📜"/>
            </a:pPr>
            <a:r>
              <a:rPr lang="en-US" dirty="0"/>
              <a:t>Specified by the required inputs and the promised outputs </a:t>
            </a:r>
            <a:br>
              <a:rPr lang="en-US" dirty="0"/>
            </a:br>
            <a:r>
              <a:rPr lang="en-US" dirty="0"/>
              <a:t>(the “contract”)</a:t>
            </a:r>
          </a:p>
          <a:p>
            <a:pPr marL="401638" indent="-392113">
              <a:buSzPct val="80000"/>
              <a:buFont typeface="System Font Regular"/>
              <a:buChar char="🌎"/>
            </a:pPr>
            <a:r>
              <a:rPr lang="en-US" dirty="0"/>
              <a:t>Commonly refers to web APIs in particular</a:t>
            </a:r>
          </a:p>
          <a:p>
            <a:pPr marL="461962" indent="-457200">
              <a:buSzPct val="80000"/>
              <a:buFont typeface="System Font Regular"/>
              <a:buChar char="☝️"/>
            </a:pPr>
            <a:endParaRPr lang="en-US" dirty="0">
              <a:latin typeface="National 2" panose="020B0504030502020203" pitchFamily="34" charset="77"/>
            </a:endParaRPr>
          </a:p>
          <a:p>
            <a:pPr marL="461962" indent="-457200">
              <a:buSzPct val="80000"/>
              <a:buFont typeface="System Font Regular"/>
              <a:buChar char="☝️"/>
            </a:pPr>
            <a:endParaRPr lang="en-US" dirty="0">
              <a:latin typeface="National 2" panose="020B0504030502020203" pitchFamily="34" charset="77"/>
            </a:endParaRPr>
          </a:p>
          <a:p>
            <a:pPr marL="461962" indent="-457200">
              <a:buSzPct val="80000"/>
              <a:buFont typeface="System Font Regular"/>
              <a:buChar char="☝️"/>
            </a:pPr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C3D70B-F697-CE72-CC1A-0129AD1D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73267-12C3-5AF1-40CD-D6E195026C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D214A-B78A-621F-824E-1B58D4E120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573449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B2D0A6-2B51-42C6-13BD-CAFA3FC30B8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06400" indent="-396875">
              <a:buSzPct val="80000"/>
              <a:buFont typeface="System Font Regular"/>
              <a:buChar char="⛓️‍💥"/>
            </a:pPr>
            <a:r>
              <a:rPr lang="en-US" dirty="0"/>
              <a:t>Separation of concerns: Decouple logic (backend) from presentation (frontend)</a:t>
            </a:r>
          </a:p>
          <a:p>
            <a:pPr marL="406400" indent="-396875">
              <a:buSzPct val="80000"/>
              <a:buFont typeface="System Font Regular"/>
              <a:buChar char="🧱"/>
            </a:pPr>
            <a:r>
              <a:rPr lang="en-US" dirty="0"/>
              <a:t>Context independence: Build one API and use it in different contexts</a:t>
            </a:r>
          </a:p>
          <a:p>
            <a:pPr marL="406400" indent="-396875">
              <a:buSzPct val="80000"/>
              <a:buFont typeface="System Font Regular"/>
              <a:buChar char="🔌"/>
            </a:pPr>
            <a:r>
              <a:rPr lang="en-US" dirty="0"/>
              <a:t>Interoperability: Allow different services/stacks to talk to each other</a:t>
            </a:r>
          </a:p>
          <a:p>
            <a:pPr marL="406400" indent="-396875">
              <a:buSzPct val="80000"/>
              <a:buFont typeface="System Font Regular"/>
              <a:buChar char="🌎"/>
            </a:pPr>
            <a:r>
              <a:rPr lang="en-US" dirty="0"/>
              <a:t>Leverage ecosystems: Integrate third-party services</a:t>
            </a:r>
          </a:p>
          <a:p>
            <a:pPr marL="406400" indent="-396875">
              <a:buSzPct val="80000"/>
              <a:buFont typeface="System Font Regular"/>
              <a:buChar char="🚀"/>
            </a:pPr>
            <a:r>
              <a:rPr lang="en-US" dirty="0"/>
              <a:t>Scalability: Update or scale backend independently of frontend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B2578-7161-FF67-AD34-76135AEC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(web) APIs?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ABC1F-C133-2138-D014-423C8934077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D7219-FF83-0065-FCD7-FBBA6464AA4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717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Database with solid fill">
            <a:extLst>
              <a:ext uri="{FF2B5EF4-FFF2-40B4-BE49-F238E27FC236}">
                <a16:creationId xmlns:a16="http://schemas.microsoft.com/office/drawing/2014/main" id="{655EA344-73F9-1451-BC68-B476833B57D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6768" y="3200400"/>
            <a:ext cx="1662972" cy="1662972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A5998F-748D-A27E-4B0D-9460B77B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RESTful APIs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A3F70-CE7F-C6CD-7616-86C79B5C0B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FF146-972C-CF8D-A24C-AD5AF0CA5C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A92B76C7-8831-E617-F450-9ACCF8BB2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0084" y="5249432"/>
            <a:ext cx="1142240" cy="1142240"/>
          </a:xfrm>
          <a:prstGeom prst="rect">
            <a:avLst/>
          </a:prstGeom>
        </p:spPr>
      </p:pic>
      <p:sp>
        <p:nvSpPr>
          <p:cNvPr id="13" name="Oval Callout 12">
            <a:extLst>
              <a:ext uri="{FF2B5EF4-FFF2-40B4-BE49-F238E27FC236}">
                <a16:creationId xmlns:a16="http://schemas.microsoft.com/office/drawing/2014/main" id="{411BF8C0-333F-94D9-2BF2-588390B5F83C}"/>
              </a:ext>
            </a:extLst>
          </p:cNvPr>
          <p:cNvSpPr/>
          <p:nvPr/>
        </p:nvSpPr>
        <p:spPr>
          <a:xfrm>
            <a:off x="9485840" y="2133600"/>
            <a:ext cx="1575528" cy="1066801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National 2" panose="020B0504030502020203" pitchFamily="34" charset="77"/>
              </a:rPr>
              <a:t>I have data!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43E2D5E-3FB8-507E-3EF7-41DB61D94895}"/>
              </a:ext>
            </a:extLst>
          </p:cNvPr>
          <p:cNvSpPr/>
          <p:nvPr/>
        </p:nvSpPr>
        <p:spPr>
          <a:xfrm rot="19800000">
            <a:off x="7238606" y="4621683"/>
            <a:ext cx="1630760" cy="48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18" name="Oval Callout 17">
            <a:extLst>
              <a:ext uri="{FF2B5EF4-FFF2-40B4-BE49-F238E27FC236}">
                <a16:creationId xmlns:a16="http://schemas.microsoft.com/office/drawing/2014/main" id="{ECFA8EAC-DC32-9A22-7E3D-4067B1FBD5F0}"/>
              </a:ext>
            </a:extLst>
          </p:cNvPr>
          <p:cNvSpPr/>
          <p:nvPr/>
        </p:nvSpPr>
        <p:spPr>
          <a:xfrm>
            <a:off x="5233680" y="4191761"/>
            <a:ext cx="1662972" cy="1142239"/>
          </a:xfrm>
          <a:prstGeom prst="wedgeEllipseCallout">
            <a:avLst>
              <a:gd name="adj1" fmla="val 35659"/>
              <a:gd name="adj2" fmla="val 603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National 2" panose="020B0504030502020203" pitchFamily="34" charset="77"/>
              </a:rPr>
              <a:t>Can I have some?</a:t>
            </a:r>
          </a:p>
        </p:txBody>
      </p:sp>
      <p:sp>
        <p:nvSpPr>
          <p:cNvPr id="19" name="Oval Callout 18">
            <a:extLst>
              <a:ext uri="{FF2B5EF4-FFF2-40B4-BE49-F238E27FC236}">
                <a16:creationId xmlns:a16="http://schemas.microsoft.com/office/drawing/2014/main" id="{7D6839B8-4D66-6F57-C9FE-48E066FCD41C}"/>
              </a:ext>
            </a:extLst>
          </p:cNvPr>
          <p:cNvSpPr/>
          <p:nvPr/>
        </p:nvSpPr>
        <p:spPr>
          <a:xfrm>
            <a:off x="9919428" y="4655083"/>
            <a:ext cx="1662972" cy="1142239"/>
          </a:xfrm>
          <a:prstGeom prst="wedgeEllipseCallout">
            <a:avLst>
              <a:gd name="adj1" fmla="val -53599"/>
              <a:gd name="adj2" fmla="val -460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National 2" panose="020B0504030502020203" pitchFamily="34" charset="77"/>
              </a:rPr>
              <a:t>Here you go!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2011ECF-6E0C-078B-9214-280318F90E2B}"/>
              </a:ext>
            </a:extLst>
          </p:cNvPr>
          <p:cNvSpPr/>
          <p:nvPr/>
        </p:nvSpPr>
        <p:spPr>
          <a:xfrm rot="8994104" flipV="1">
            <a:off x="7313587" y="5088658"/>
            <a:ext cx="1630760" cy="48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1847A-943F-5A5A-1A37-26C81D150818}"/>
              </a:ext>
            </a:extLst>
          </p:cNvPr>
          <p:cNvSpPr txBox="1"/>
          <p:nvPr/>
        </p:nvSpPr>
        <p:spPr>
          <a:xfrm>
            <a:off x="381000" y="2005800"/>
            <a:ext cx="5715000" cy="30931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  <a:latin typeface="National 2 Medium" panose="020B0504030502020203" pitchFamily="34" charset="77"/>
              </a:rPr>
              <a:t>REpresentational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 State Transfer (REST)</a:t>
            </a:r>
          </a:p>
          <a:p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A way to structure network-based applications</a:t>
            </a:r>
          </a:p>
          <a:p>
            <a:endParaRPr lang="en-US" sz="2000" dirty="0">
              <a:solidFill>
                <a:schemeClr val="accent1"/>
              </a:solidFill>
              <a:latin typeface="National 2 Medium" panose="020B0504030502020203" pitchFamily="34" charset="77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An application is </a:t>
            </a:r>
            <a:r>
              <a:rPr lang="en-US" sz="2000" i="1" dirty="0">
                <a:solidFill>
                  <a:schemeClr val="accent1"/>
                </a:solidFill>
                <a:latin typeface="National 2" panose="020B0504030502020203" pitchFamily="34" charset="77"/>
              </a:rPr>
              <a:t>RESTful</a:t>
            </a: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, if: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Resources</a:t>
            </a: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 are being transferred (e.g., a web page, images, list of names, sensor data, …)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The user interacts with the application </a:t>
            </a:r>
            <a:b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</a:b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using a 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limited set of actions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The application is 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stateless</a:t>
            </a:r>
          </a:p>
        </p:txBody>
      </p:sp>
    </p:spTree>
    <p:extLst>
      <p:ext uri="{BB962C8B-B14F-4D97-AF65-F5344CB8AC3E}">
        <p14:creationId xmlns:p14="http://schemas.microsoft.com/office/powerpoint/2010/main" val="198307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  <p:bldP spid="19" grpId="0" animBg="1"/>
      <p:bldP spid="20" grpId="0" animBg="1"/>
      <p:bldP spid="2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C57E402-F9EA-29B0-90A8-FB4FD14183BD}"/>
              </a:ext>
            </a:extLst>
          </p:cNvPr>
          <p:cNvGrpSpPr/>
          <p:nvPr/>
        </p:nvGrpSpPr>
        <p:grpSpPr>
          <a:xfrm>
            <a:off x="7244282" y="4623777"/>
            <a:ext cx="1705741" cy="950353"/>
            <a:chOff x="7856556" y="4867347"/>
            <a:chExt cx="1705741" cy="950353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C3E1CDE8-DDDB-376B-936B-936D17EAFCA7}"/>
                </a:ext>
              </a:extLst>
            </p:cNvPr>
            <p:cNvSpPr/>
            <p:nvPr/>
          </p:nvSpPr>
          <p:spPr>
            <a:xfrm rot="19800000">
              <a:off x="7856556" y="4867347"/>
              <a:ext cx="1630760" cy="4833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ational 2" panose="020B0504030502020203" pitchFamily="34" charset="77"/>
              </a:endParaRPr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9906A0CE-C369-6F66-191B-B2F31F989C7E}"/>
                </a:ext>
              </a:extLst>
            </p:cNvPr>
            <p:cNvSpPr/>
            <p:nvPr/>
          </p:nvSpPr>
          <p:spPr>
            <a:xfrm rot="8994104" flipV="1">
              <a:off x="7931537" y="5334322"/>
              <a:ext cx="1630760" cy="48337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National 2" panose="020B0504030502020203" pitchFamily="34" charset="77"/>
              </a:endParaRPr>
            </a:p>
          </p:txBody>
        </p:sp>
      </p:grpSp>
      <p:pic>
        <p:nvPicPr>
          <p:cNvPr id="10" name="Content Placeholder 9" descr="Database with solid fill">
            <a:extLst>
              <a:ext uri="{FF2B5EF4-FFF2-40B4-BE49-F238E27FC236}">
                <a16:creationId xmlns:a16="http://schemas.microsoft.com/office/drawing/2014/main" id="{655EA344-73F9-1451-BC68-B476833B57D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6768" y="3200400"/>
            <a:ext cx="1662972" cy="1662972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A5998F-748D-A27E-4B0D-9460B77B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RESTful APIs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A3F70-CE7F-C6CD-7616-86C79B5C0B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FF146-972C-CF8D-A24C-AD5AF0CA5C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A92B76C7-8831-E617-F450-9ACCF8BB2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0084" y="5249432"/>
            <a:ext cx="1142240" cy="1142240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B43E2D5E-3FB8-507E-3EF7-41DB61D94895}"/>
              </a:ext>
            </a:extLst>
          </p:cNvPr>
          <p:cNvSpPr/>
          <p:nvPr/>
        </p:nvSpPr>
        <p:spPr>
          <a:xfrm rot="19800000">
            <a:off x="7238606" y="4621683"/>
            <a:ext cx="1630760" cy="48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National 2" panose="020B0504030502020203" pitchFamily="34" charset="77"/>
              </a:rPr>
              <a:t>request</a:t>
            </a:r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2011ECF-6E0C-078B-9214-280318F90E2B}"/>
              </a:ext>
            </a:extLst>
          </p:cNvPr>
          <p:cNvSpPr/>
          <p:nvPr/>
        </p:nvSpPr>
        <p:spPr>
          <a:xfrm rot="8994104" flipV="1">
            <a:off x="7313587" y="5088658"/>
            <a:ext cx="1630760" cy="483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National 2" panose="020B0504030502020203" pitchFamily="34" charset="77"/>
              </a:rPr>
              <a:t>response</a:t>
            </a:r>
            <a:endParaRPr lang="en-US" dirty="0">
              <a:latin typeface="National 2" panose="020B0504030502020203" pitchFamily="34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1847A-943F-5A5A-1A37-26C81D150818}"/>
              </a:ext>
            </a:extLst>
          </p:cNvPr>
          <p:cNvSpPr txBox="1"/>
          <p:nvPr/>
        </p:nvSpPr>
        <p:spPr>
          <a:xfrm>
            <a:off x="381000" y="2005800"/>
            <a:ext cx="5715000" cy="30931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  <a:latin typeface="National 2 Medium" panose="020B0504030502020203" pitchFamily="34" charset="77"/>
              </a:rPr>
              <a:t>REpresentational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 State Transfer (REST)</a:t>
            </a:r>
          </a:p>
          <a:p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A way to structure network-based applications</a:t>
            </a:r>
          </a:p>
          <a:p>
            <a:endParaRPr lang="en-US" sz="2000" dirty="0">
              <a:solidFill>
                <a:schemeClr val="accent1"/>
              </a:solidFill>
              <a:latin typeface="National 2 Medium" panose="020B0504030502020203" pitchFamily="34" charset="77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An application is </a:t>
            </a:r>
            <a:r>
              <a:rPr lang="en-US" sz="2000" i="1" dirty="0">
                <a:solidFill>
                  <a:schemeClr val="accent1"/>
                </a:solidFill>
                <a:latin typeface="National 2" panose="020B0504030502020203" pitchFamily="34" charset="77"/>
              </a:rPr>
              <a:t>RESTful</a:t>
            </a: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, if: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Resources</a:t>
            </a: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 are being transferred (e.g., a web page, images, list of names, sensor data, …)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The user interacts with the application </a:t>
            </a:r>
            <a:b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</a:b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using a 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limited set of actions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The application is 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stateless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C8E09-18CD-59CF-6BAB-0DC9FD07C3BE}"/>
              </a:ext>
            </a:extLst>
          </p:cNvPr>
          <p:cNvSpPr txBox="1"/>
          <p:nvPr/>
        </p:nvSpPr>
        <p:spPr>
          <a:xfrm>
            <a:off x="381000" y="5534972"/>
            <a:ext cx="5846467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  <a:latin typeface="National 2 Medium" panose="020B0504030502020203" pitchFamily="34" charset="77"/>
              </a:rPr>
              <a:t>HyperText</a:t>
            </a:r>
            <a:r>
              <a:rPr lang="en-US" sz="2000" dirty="0">
                <a:solidFill>
                  <a:schemeClr val="accent1"/>
                </a:solidFill>
                <a:latin typeface="National 2 Medium" panose="020B0504030502020203" pitchFamily="34" charset="77"/>
              </a:rPr>
              <a:t> Transfer Protocol (HTTP)</a:t>
            </a:r>
          </a:p>
          <a:p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The protocol governing communication on the web</a:t>
            </a:r>
          </a:p>
          <a:p>
            <a:pPr marL="342900" indent="-342900">
              <a:buSzPct val="80000"/>
              <a:buFont typeface="System Font Regular"/>
              <a:buChar char="👍"/>
            </a:pPr>
            <a:r>
              <a:rPr lang="en-US" sz="2000" dirty="0">
                <a:solidFill>
                  <a:schemeClr val="accent1"/>
                </a:solidFill>
                <a:latin typeface="National 2" panose="020B0504030502020203" pitchFamily="34" charset="77"/>
              </a:rPr>
              <a:t>A (mostly) RESTful application</a:t>
            </a:r>
          </a:p>
        </p:txBody>
      </p:sp>
      <p:sp>
        <p:nvSpPr>
          <p:cNvPr id="6" name="Line Callout 1 5">
            <a:extLst>
              <a:ext uri="{FF2B5EF4-FFF2-40B4-BE49-F238E27FC236}">
                <a16:creationId xmlns:a16="http://schemas.microsoft.com/office/drawing/2014/main" id="{BECB1277-0984-B7A2-6888-3502A469448C}"/>
              </a:ext>
            </a:extLst>
          </p:cNvPr>
          <p:cNvSpPr/>
          <p:nvPr/>
        </p:nvSpPr>
        <p:spPr>
          <a:xfrm>
            <a:off x="10439400" y="3269064"/>
            <a:ext cx="1601521" cy="472102"/>
          </a:xfrm>
          <a:custGeom>
            <a:avLst/>
            <a:gdLst>
              <a:gd name="csX0" fmla="*/ -133455 w 1601521"/>
              <a:gd name="csY0" fmla="*/ 88519 h 472102"/>
              <a:gd name="csX1" fmla="*/ -613911 w 1601521"/>
              <a:gd name="csY1" fmla="*/ 531115 h 472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01521" h="472102" fill="none" extrusionOk="0">
                <a:moveTo>
                  <a:pt x="0" y="0"/>
                </a:moveTo>
                <a:cubicBezTo>
                  <a:pt x="147141" y="-18433"/>
                  <a:pt x="443885" y="-4650"/>
                  <a:pt x="565871" y="0"/>
                </a:cubicBezTo>
                <a:cubicBezTo>
                  <a:pt x="687857" y="4650"/>
                  <a:pt x="932145" y="-16220"/>
                  <a:pt x="1115726" y="0"/>
                </a:cubicBezTo>
                <a:cubicBezTo>
                  <a:pt x="1299307" y="16220"/>
                  <a:pt x="1364378" y="-350"/>
                  <a:pt x="1601521" y="0"/>
                </a:cubicBezTo>
                <a:cubicBezTo>
                  <a:pt x="1607475" y="227161"/>
                  <a:pt x="1582261" y="367955"/>
                  <a:pt x="1601521" y="472102"/>
                </a:cubicBezTo>
                <a:cubicBezTo>
                  <a:pt x="1482682" y="465649"/>
                  <a:pt x="1304953" y="460625"/>
                  <a:pt x="1099711" y="472102"/>
                </a:cubicBezTo>
                <a:cubicBezTo>
                  <a:pt x="894469" y="483580"/>
                  <a:pt x="770011" y="489622"/>
                  <a:pt x="565871" y="472102"/>
                </a:cubicBezTo>
                <a:cubicBezTo>
                  <a:pt x="361731" y="454582"/>
                  <a:pt x="276509" y="467230"/>
                  <a:pt x="0" y="472102"/>
                </a:cubicBezTo>
                <a:cubicBezTo>
                  <a:pt x="-7891" y="376269"/>
                  <a:pt x="21560" y="182047"/>
                  <a:pt x="0" y="0"/>
                </a:cubicBezTo>
                <a:close/>
              </a:path>
              <a:path w="1601521" h="472102" fill="none" extrusionOk="0">
                <a:moveTo>
                  <a:pt x="-133455" y="88519"/>
                </a:moveTo>
                <a:cubicBezTo>
                  <a:pt x="-239863" y="191638"/>
                  <a:pt x="-443050" y="354097"/>
                  <a:pt x="-613911" y="531115"/>
                </a:cubicBezTo>
              </a:path>
              <a:path w="1601521" h="472102" stroke="0" extrusionOk="0">
                <a:moveTo>
                  <a:pt x="0" y="0"/>
                </a:moveTo>
                <a:cubicBezTo>
                  <a:pt x="248407" y="-13122"/>
                  <a:pt x="339600" y="-2917"/>
                  <a:pt x="517825" y="0"/>
                </a:cubicBezTo>
                <a:cubicBezTo>
                  <a:pt x="696050" y="2917"/>
                  <a:pt x="893367" y="15069"/>
                  <a:pt x="1003620" y="0"/>
                </a:cubicBezTo>
                <a:cubicBezTo>
                  <a:pt x="1113874" y="-15069"/>
                  <a:pt x="1442668" y="-11142"/>
                  <a:pt x="1601521" y="0"/>
                </a:cubicBezTo>
                <a:cubicBezTo>
                  <a:pt x="1604818" y="199524"/>
                  <a:pt x="1593073" y="319072"/>
                  <a:pt x="1601521" y="472102"/>
                </a:cubicBezTo>
                <a:cubicBezTo>
                  <a:pt x="1443188" y="448942"/>
                  <a:pt x="1274049" y="496466"/>
                  <a:pt x="1099711" y="472102"/>
                </a:cubicBezTo>
                <a:cubicBezTo>
                  <a:pt x="925373" y="447739"/>
                  <a:pt x="648622" y="467749"/>
                  <a:pt x="533840" y="472102"/>
                </a:cubicBezTo>
                <a:cubicBezTo>
                  <a:pt x="419058" y="476455"/>
                  <a:pt x="144185" y="480563"/>
                  <a:pt x="0" y="472102"/>
                </a:cubicBezTo>
                <a:cubicBezTo>
                  <a:pt x="10147" y="363959"/>
                  <a:pt x="7260" y="163808"/>
                  <a:pt x="0" y="0"/>
                </a:cubicBezTo>
                <a:close/>
              </a:path>
              <a:path w="1601521" h="472102" fill="none" stroke="0" extrusionOk="0">
                <a:moveTo>
                  <a:pt x="-133455" y="88519"/>
                </a:moveTo>
                <a:cubicBezTo>
                  <a:pt x="-340745" y="246448"/>
                  <a:pt x="-476087" y="436664"/>
                  <a:pt x="-613911" y="531115"/>
                </a:cubicBezTo>
              </a:path>
            </a:pathLst>
          </a:custGeom>
          <a:ln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borderCallout1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National 2" panose="020B0504030502020203" pitchFamily="34" charset="77"/>
              </a:rPr>
              <a:t>Stateless</a:t>
            </a: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4612497C-0285-E6D8-8349-028696CDE1D8}"/>
              </a:ext>
            </a:extLst>
          </p:cNvPr>
          <p:cNvSpPr/>
          <p:nvPr/>
        </p:nvSpPr>
        <p:spPr>
          <a:xfrm>
            <a:off x="6635679" y="2591254"/>
            <a:ext cx="1911089" cy="472102"/>
          </a:xfrm>
          <a:custGeom>
            <a:avLst/>
            <a:gdLst>
              <a:gd name="csX0" fmla="*/ 1863694 w 1911089"/>
              <a:gd name="csY0" fmla="*/ 551982 h 472102"/>
              <a:gd name="csX1" fmla="*/ 2279891 w 1911089"/>
              <a:gd name="csY1" fmla="*/ 888104 h 472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11089" h="472102" fill="none" extrusionOk="0">
                <a:moveTo>
                  <a:pt x="0" y="0"/>
                </a:moveTo>
                <a:cubicBezTo>
                  <a:pt x="240522" y="25438"/>
                  <a:pt x="423449" y="3466"/>
                  <a:pt x="675251" y="0"/>
                </a:cubicBezTo>
                <a:cubicBezTo>
                  <a:pt x="927053" y="-3466"/>
                  <a:pt x="1041559" y="-25220"/>
                  <a:pt x="1331392" y="0"/>
                </a:cubicBezTo>
                <a:cubicBezTo>
                  <a:pt x="1621225" y="25220"/>
                  <a:pt x="1765980" y="13271"/>
                  <a:pt x="1911089" y="0"/>
                </a:cubicBezTo>
                <a:cubicBezTo>
                  <a:pt x="1917043" y="227161"/>
                  <a:pt x="1891829" y="367955"/>
                  <a:pt x="1911089" y="472102"/>
                </a:cubicBezTo>
                <a:cubicBezTo>
                  <a:pt x="1681315" y="442692"/>
                  <a:pt x="1551346" y="446740"/>
                  <a:pt x="1312281" y="472102"/>
                </a:cubicBezTo>
                <a:cubicBezTo>
                  <a:pt x="1073216" y="497464"/>
                  <a:pt x="840437" y="478038"/>
                  <a:pt x="675251" y="472102"/>
                </a:cubicBezTo>
                <a:cubicBezTo>
                  <a:pt x="510065" y="466167"/>
                  <a:pt x="264608" y="461181"/>
                  <a:pt x="0" y="472102"/>
                </a:cubicBezTo>
                <a:cubicBezTo>
                  <a:pt x="-7891" y="376269"/>
                  <a:pt x="21560" y="182047"/>
                  <a:pt x="0" y="0"/>
                </a:cubicBezTo>
                <a:close/>
              </a:path>
              <a:path w="1911089" h="472102" fill="none" extrusionOk="0">
                <a:moveTo>
                  <a:pt x="1863694" y="551982"/>
                </a:moveTo>
                <a:cubicBezTo>
                  <a:pt x="2052229" y="703748"/>
                  <a:pt x="2114756" y="787113"/>
                  <a:pt x="2279891" y="888104"/>
                </a:cubicBezTo>
              </a:path>
              <a:path w="1911089" h="472102" stroke="0" extrusionOk="0">
                <a:moveTo>
                  <a:pt x="0" y="0"/>
                </a:moveTo>
                <a:cubicBezTo>
                  <a:pt x="287038" y="-27252"/>
                  <a:pt x="316380" y="27791"/>
                  <a:pt x="617919" y="0"/>
                </a:cubicBezTo>
                <a:cubicBezTo>
                  <a:pt x="919458" y="-27791"/>
                  <a:pt x="955920" y="15003"/>
                  <a:pt x="1197616" y="0"/>
                </a:cubicBezTo>
                <a:cubicBezTo>
                  <a:pt x="1439312" y="-15003"/>
                  <a:pt x="1648975" y="6171"/>
                  <a:pt x="1911089" y="0"/>
                </a:cubicBezTo>
                <a:cubicBezTo>
                  <a:pt x="1914386" y="199524"/>
                  <a:pt x="1902641" y="319072"/>
                  <a:pt x="1911089" y="472102"/>
                </a:cubicBezTo>
                <a:cubicBezTo>
                  <a:pt x="1714174" y="471386"/>
                  <a:pt x="1525340" y="500357"/>
                  <a:pt x="1312281" y="472102"/>
                </a:cubicBezTo>
                <a:cubicBezTo>
                  <a:pt x="1099222" y="443847"/>
                  <a:pt x="777286" y="501160"/>
                  <a:pt x="637030" y="472102"/>
                </a:cubicBezTo>
                <a:cubicBezTo>
                  <a:pt x="496774" y="443044"/>
                  <a:pt x="306734" y="484990"/>
                  <a:pt x="0" y="472102"/>
                </a:cubicBezTo>
                <a:cubicBezTo>
                  <a:pt x="10147" y="363959"/>
                  <a:pt x="7260" y="163808"/>
                  <a:pt x="0" y="0"/>
                </a:cubicBezTo>
                <a:close/>
              </a:path>
              <a:path w="1911089" h="472102" fill="none" stroke="0" extrusionOk="0">
                <a:moveTo>
                  <a:pt x="1863694" y="551982"/>
                </a:moveTo>
                <a:cubicBezTo>
                  <a:pt x="2067075" y="689245"/>
                  <a:pt x="2104313" y="773570"/>
                  <a:pt x="2279891" y="888104"/>
                </a:cubicBezTo>
              </a:path>
            </a:pathLst>
          </a:custGeom>
          <a:ln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borderCallout1">
                    <a:avLst>
                      <a:gd name="adj1" fmla="val 116920"/>
                      <a:gd name="adj2" fmla="val 97520"/>
                      <a:gd name="adj3" fmla="val 188117"/>
                      <a:gd name="adj4" fmla="val 11929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National 2" panose="020B0504030502020203" pitchFamily="34" charset="77"/>
              </a:rPr>
              <a:t>Has resources</a:t>
            </a: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D21C2B53-4420-65C9-4EC3-EE5D92F2B8AA}"/>
              </a:ext>
            </a:extLst>
          </p:cNvPr>
          <p:cNvSpPr/>
          <p:nvPr/>
        </p:nvSpPr>
        <p:spPr>
          <a:xfrm>
            <a:off x="5161575" y="4408786"/>
            <a:ext cx="1911089" cy="472102"/>
          </a:xfrm>
          <a:custGeom>
            <a:avLst/>
            <a:gdLst>
              <a:gd name="csX0" fmla="*/ 1863694 w 1911089"/>
              <a:gd name="csY0" fmla="*/ 551982 h 472102"/>
              <a:gd name="csX1" fmla="*/ 2392626 w 1911089"/>
              <a:gd name="csY1" fmla="*/ 700212 h 472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11089" h="472102" fill="none" extrusionOk="0">
                <a:moveTo>
                  <a:pt x="0" y="0"/>
                </a:moveTo>
                <a:cubicBezTo>
                  <a:pt x="240522" y="25438"/>
                  <a:pt x="423449" y="3466"/>
                  <a:pt x="675251" y="0"/>
                </a:cubicBezTo>
                <a:cubicBezTo>
                  <a:pt x="927053" y="-3466"/>
                  <a:pt x="1041559" y="-25220"/>
                  <a:pt x="1331392" y="0"/>
                </a:cubicBezTo>
                <a:cubicBezTo>
                  <a:pt x="1621225" y="25220"/>
                  <a:pt x="1765980" y="13271"/>
                  <a:pt x="1911089" y="0"/>
                </a:cubicBezTo>
                <a:cubicBezTo>
                  <a:pt x="1917043" y="227161"/>
                  <a:pt x="1891829" y="367955"/>
                  <a:pt x="1911089" y="472102"/>
                </a:cubicBezTo>
                <a:cubicBezTo>
                  <a:pt x="1681315" y="442692"/>
                  <a:pt x="1551346" y="446740"/>
                  <a:pt x="1312281" y="472102"/>
                </a:cubicBezTo>
                <a:cubicBezTo>
                  <a:pt x="1073216" y="497464"/>
                  <a:pt x="840437" y="478038"/>
                  <a:pt x="675251" y="472102"/>
                </a:cubicBezTo>
                <a:cubicBezTo>
                  <a:pt x="510065" y="466167"/>
                  <a:pt x="264608" y="461181"/>
                  <a:pt x="0" y="472102"/>
                </a:cubicBezTo>
                <a:cubicBezTo>
                  <a:pt x="-7891" y="376269"/>
                  <a:pt x="21560" y="182047"/>
                  <a:pt x="0" y="0"/>
                </a:cubicBezTo>
                <a:close/>
              </a:path>
              <a:path w="1911089" h="472102" fill="none" extrusionOk="0">
                <a:moveTo>
                  <a:pt x="1863694" y="551982"/>
                </a:moveTo>
                <a:cubicBezTo>
                  <a:pt x="2058137" y="592701"/>
                  <a:pt x="2196081" y="617618"/>
                  <a:pt x="2392626" y="700212"/>
                </a:cubicBezTo>
              </a:path>
              <a:path w="1911089" h="472102" stroke="0" extrusionOk="0">
                <a:moveTo>
                  <a:pt x="0" y="0"/>
                </a:moveTo>
                <a:cubicBezTo>
                  <a:pt x="287038" y="-27252"/>
                  <a:pt x="316380" y="27791"/>
                  <a:pt x="617919" y="0"/>
                </a:cubicBezTo>
                <a:cubicBezTo>
                  <a:pt x="919458" y="-27791"/>
                  <a:pt x="955920" y="15003"/>
                  <a:pt x="1197616" y="0"/>
                </a:cubicBezTo>
                <a:cubicBezTo>
                  <a:pt x="1439312" y="-15003"/>
                  <a:pt x="1648975" y="6171"/>
                  <a:pt x="1911089" y="0"/>
                </a:cubicBezTo>
                <a:cubicBezTo>
                  <a:pt x="1914386" y="199524"/>
                  <a:pt x="1902641" y="319072"/>
                  <a:pt x="1911089" y="472102"/>
                </a:cubicBezTo>
                <a:cubicBezTo>
                  <a:pt x="1714174" y="471386"/>
                  <a:pt x="1525340" y="500357"/>
                  <a:pt x="1312281" y="472102"/>
                </a:cubicBezTo>
                <a:cubicBezTo>
                  <a:pt x="1099222" y="443847"/>
                  <a:pt x="777286" y="501160"/>
                  <a:pt x="637030" y="472102"/>
                </a:cubicBezTo>
                <a:cubicBezTo>
                  <a:pt x="496774" y="443044"/>
                  <a:pt x="306734" y="484990"/>
                  <a:pt x="0" y="472102"/>
                </a:cubicBezTo>
                <a:cubicBezTo>
                  <a:pt x="10147" y="363959"/>
                  <a:pt x="7260" y="163808"/>
                  <a:pt x="0" y="0"/>
                </a:cubicBezTo>
                <a:close/>
              </a:path>
              <a:path w="1911089" h="472102" fill="none" stroke="0" extrusionOk="0">
                <a:moveTo>
                  <a:pt x="1863694" y="551982"/>
                </a:moveTo>
                <a:cubicBezTo>
                  <a:pt x="1977910" y="571829"/>
                  <a:pt x="2225641" y="635947"/>
                  <a:pt x="2392626" y="700212"/>
                </a:cubicBezTo>
              </a:path>
            </a:pathLst>
          </a:custGeom>
          <a:ln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borderCallout1">
                    <a:avLst>
                      <a:gd name="adj1" fmla="val 116920"/>
                      <a:gd name="adj2" fmla="val 97520"/>
                      <a:gd name="adj3" fmla="val 148318"/>
                      <a:gd name="adj4" fmla="val 125197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National 2" panose="020B0504030502020203" pitchFamily="34" charset="77"/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351480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2" grpId="0" uiExpand="1" build="p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F2A6B77-6544-9A32-9A55-60127D8B787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668595243"/>
              </p:ext>
            </p:extLst>
          </p:nvPr>
        </p:nvGraphicFramePr>
        <p:xfrm>
          <a:off x="322263" y="2365374"/>
          <a:ext cx="11545884" cy="258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471">
                  <a:extLst>
                    <a:ext uri="{9D8B030D-6E8A-4147-A177-3AD203B41FA5}">
                      <a16:colId xmlns:a16="http://schemas.microsoft.com/office/drawing/2014/main" val="2260363726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400829278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3116573814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76399545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HTTP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Example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0501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Create a new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70313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Retrieve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9133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Update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795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Remove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36575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90A331-944C-3BDB-A30F-A4A3E586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Actions &lt;-&gt; HTTP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0E1E5-A557-5998-69C3-E4D70DD28E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6E2F6-479F-280B-0D99-6BC53A1F8A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C98566-896D-DEB0-07D5-F90E74F0139C}"/>
              </a:ext>
            </a:extLst>
          </p:cNvPr>
          <p:cNvGrpSpPr/>
          <p:nvPr/>
        </p:nvGrpSpPr>
        <p:grpSpPr>
          <a:xfrm>
            <a:off x="6655904" y="4800600"/>
            <a:ext cx="1172817" cy="1140479"/>
            <a:chOff x="6655904" y="4800600"/>
            <a:chExt cx="1172817" cy="114047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5766860-3B48-1AEB-2C8D-E7D813F06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5904" y="4800600"/>
              <a:ext cx="202096" cy="533400"/>
            </a:xfrm>
            <a:prstGeom prst="straightConnector1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D303BE7-A48F-0509-53EB-5336446FD2A9}"/>
                </a:ext>
              </a:extLst>
            </p:cNvPr>
            <p:cNvSpPr/>
            <p:nvPr/>
          </p:nvSpPr>
          <p:spPr>
            <a:xfrm>
              <a:off x="6685721" y="5407679"/>
              <a:ext cx="1143000" cy="533400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Nouns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7345D8-6A46-62CC-E44C-18927834E206}"/>
              </a:ext>
            </a:extLst>
          </p:cNvPr>
          <p:cNvGrpSpPr/>
          <p:nvPr/>
        </p:nvGrpSpPr>
        <p:grpSpPr>
          <a:xfrm>
            <a:off x="4038600" y="4789004"/>
            <a:ext cx="1176130" cy="1152075"/>
            <a:chOff x="4038600" y="4789004"/>
            <a:chExt cx="1176130" cy="115207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8380F66-43E5-7197-9A66-EA190197D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8600" y="4789004"/>
              <a:ext cx="202096" cy="533400"/>
            </a:xfrm>
            <a:prstGeom prst="straightConnector1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89201581-7616-DAD8-4446-1DD129C40498}"/>
                </a:ext>
              </a:extLst>
            </p:cNvPr>
            <p:cNvSpPr/>
            <p:nvPr/>
          </p:nvSpPr>
          <p:spPr>
            <a:xfrm>
              <a:off x="4071730" y="5407679"/>
              <a:ext cx="1143000" cy="533400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Verbs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1504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9D93A-9DFB-8C81-4FE2-43D388D992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1509" y="2365638"/>
            <a:ext cx="5774492" cy="4127303"/>
          </a:xfrm>
        </p:spPr>
        <p:txBody>
          <a:bodyPr/>
          <a:lstStyle/>
          <a:p>
            <a:pPr marL="346075" indent="-346075">
              <a:buSzPct val="80000"/>
              <a:buFont typeface="System Font Regular"/>
              <a:buChar char="🗂️"/>
            </a:pPr>
            <a:r>
              <a:rPr lang="en-US" dirty="0"/>
              <a:t>Resources are (typically) stored in SQL database tables</a:t>
            </a:r>
          </a:p>
          <a:p>
            <a:pPr marL="346075" indent="-346075">
              <a:buSzPct val="80000"/>
              <a:buFont typeface="System Font Regular"/>
              <a:buChar char="☝️"/>
            </a:pPr>
            <a:r>
              <a:rPr lang="en-US" dirty="0"/>
              <a:t>Database tables (“models”) can be different from what the API returns (“schemas”)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FC58F2-B063-5F09-8853-2DA2628D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APIs and Databases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7FBB3-FCD2-7A88-71E4-59798CED26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50E4F-CBDF-A23A-CC98-99E720F62B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F807C-EFAF-BE00-7B23-41EA1B459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323611"/>
              </p:ext>
            </p:extLst>
          </p:nvPr>
        </p:nvGraphicFramePr>
        <p:xfrm>
          <a:off x="7122911" y="2480743"/>
          <a:ext cx="4487088" cy="8144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1355059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740584502"/>
                    </a:ext>
                  </a:extLst>
                </a:gridCol>
                <a:gridCol w="1671818">
                  <a:extLst>
                    <a:ext uri="{9D8B030D-6E8A-4147-A177-3AD203B41FA5}">
                      <a16:colId xmlns:a16="http://schemas.microsoft.com/office/drawing/2014/main" val="1005563199"/>
                    </a:ext>
                  </a:extLst>
                </a:gridCol>
                <a:gridCol w="986470">
                  <a:extLst>
                    <a:ext uri="{9D8B030D-6E8A-4147-A177-3AD203B41FA5}">
                      <a16:colId xmlns:a16="http://schemas.microsoft.com/office/drawing/2014/main" val="1909087423"/>
                    </a:ext>
                  </a:extLst>
                </a:gridCol>
              </a:tblGrid>
              <a:tr h="407221"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80480"/>
                  </a:ext>
                </a:extLst>
              </a:tr>
              <a:tr h="407221"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balin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balin@moria.org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m3ll0n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87935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26E286-6CC7-5A1A-ABCB-076D1B339E19}"/>
              </a:ext>
            </a:extLst>
          </p:cNvPr>
          <p:cNvSpPr/>
          <p:nvPr/>
        </p:nvSpPr>
        <p:spPr>
          <a:xfrm>
            <a:off x="10286969" y="3191740"/>
            <a:ext cx="1574646" cy="47451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National 2" panose="020B0504030502020203" pitchFamily="34" charset="77"/>
              </a:rPr>
              <a:t>Database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3E06EEDC-F47D-12DD-3D4D-FC421BAC6FA5}"/>
              </a:ext>
            </a:extLst>
          </p:cNvPr>
          <p:cNvSpPr/>
          <p:nvPr/>
        </p:nvSpPr>
        <p:spPr>
          <a:xfrm>
            <a:off x="9099754" y="3429001"/>
            <a:ext cx="533400" cy="1051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A829C8-D538-5417-ACEF-A051DA14224C}"/>
              </a:ext>
            </a:extLst>
          </p:cNvPr>
          <p:cNvSpPr/>
          <p:nvPr/>
        </p:nvSpPr>
        <p:spPr>
          <a:xfrm>
            <a:off x="9006878" y="3569442"/>
            <a:ext cx="719151" cy="47451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National 2" panose="020B0504030502020203" pitchFamily="34" charset="77"/>
              </a:rPr>
              <a:t>GET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05F68B-E9BC-9BA9-747B-893FD8B503E2}"/>
              </a:ext>
            </a:extLst>
          </p:cNvPr>
          <p:cNvSpPr/>
          <p:nvPr/>
        </p:nvSpPr>
        <p:spPr>
          <a:xfrm>
            <a:off x="7584474" y="4654274"/>
            <a:ext cx="3581400" cy="1387541"/>
          </a:xfrm>
          <a:prstGeom prst="roundRect">
            <a:avLst>
              <a:gd name="adj" fmla="val 4814"/>
            </a:avLst>
          </a:prstGeom>
          <a:solidFill>
            <a:schemeClr val="accent6">
              <a:lumMod val="9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>
              <a:lnSpc>
                <a:spcPct val="104188"/>
              </a:lnSpc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indent="0" algn="l">
              <a:lnSpc>
                <a:spcPct val="104188"/>
              </a:lnSpc>
              <a:buNone/>
            </a:pP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1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6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indent="0" algn="l">
              <a:lnSpc>
                <a:spcPct val="104188"/>
              </a:lnSpc>
              <a:buNone/>
            </a:pP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i="0" dirty="0" err="1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balin</a:t>
            </a:r>
            <a:r>
              <a:rPr lang="en-US" sz="1600" b="0" i="0" dirty="0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indent="0" algn="l">
              <a:lnSpc>
                <a:spcPct val="104188"/>
              </a:lnSpc>
              <a:buNone/>
            </a:pP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i="0" dirty="0" err="1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balin@moria.org</a:t>
            </a:r>
            <a:r>
              <a:rPr lang="en-US" sz="1600" b="0" i="0" dirty="0">
                <a:solidFill>
                  <a:srgbClr val="BA2121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>
              <a:lnSpc>
                <a:spcPct val="104188"/>
              </a:lnSpc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BA6498-F08D-5814-7117-682FACB4F929}"/>
              </a:ext>
            </a:extLst>
          </p:cNvPr>
          <p:cNvSpPr/>
          <p:nvPr/>
        </p:nvSpPr>
        <p:spPr>
          <a:xfrm>
            <a:off x="10287000" y="5804555"/>
            <a:ext cx="1574647" cy="47451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National 2" panose="020B0504030502020203" pitchFamily="34" charset="77"/>
              </a:rPr>
              <a:t>API response</a:t>
            </a:r>
          </a:p>
        </p:txBody>
      </p:sp>
    </p:spTree>
    <p:extLst>
      <p:ext uri="{BB962C8B-B14F-4D97-AF65-F5344CB8AC3E}">
        <p14:creationId xmlns:p14="http://schemas.microsoft.com/office/powerpoint/2010/main" val="3286104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231D06-16B0-4A00-CA36-8D65E473AD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406400" indent="-396875">
              <a:buSzPct val="80000"/>
              <a:buFont typeface="System Font Regular"/>
              <a:buChar char="🔁"/>
            </a:pPr>
            <a:r>
              <a:rPr lang="en-US" sz="2400" dirty="0"/>
              <a:t>Applications using RESTful APIs </a:t>
            </a:r>
            <a:r>
              <a:rPr lang="en-US" sz="2400" i="1" dirty="0"/>
              <a:t>can</a:t>
            </a:r>
            <a:r>
              <a:rPr lang="en-US" sz="2400" dirty="0"/>
              <a:t> have mutable state</a:t>
            </a:r>
          </a:p>
          <a:p>
            <a:pPr marL="406400" indent="-396875">
              <a:buSzPct val="80000"/>
              <a:buFont typeface="System Font Regular"/>
              <a:buChar char="☝️"/>
            </a:pPr>
            <a:r>
              <a:rPr lang="en-US" sz="2400" dirty="0"/>
              <a:t>Just the </a:t>
            </a:r>
            <a:r>
              <a:rPr lang="en-US" sz="2400" i="1" dirty="0"/>
              <a:t>communication</a:t>
            </a:r>
            <a:r>
              <a:rPr lang="en-US" sz="2400" dirty="0"/>
              <a:t> is stateless</a:t>
            </a:r>
          </a:p>
          <a:p>
            <a:pPr marL="406400" indent="-396875">
              <a:buSzPct val="80000"/>
              <a:buFont typeface="System Font Regular"/>
              <a:buChar char="🗒️"/>
            </a:pPr>
            <a:r>
              <a:rPr lang="en-US" sz="2400" dirty="0"/>
              <a:t>Example: Pagination</a:t>
            </a:r>
          </a:p>
          <a:p>
            <a:pPr marL="742950" lvl="1" indent="-331788">
              <a:buSzPct val="80000"/>
              <a:buFont typeface="System Font Regular"/>
              <a:buChar char="❌"/>
            </a:pPr>
            <a:r>
              <a:rPr lang="en-US" sz="2000" dirty="0"/>
              <a:t>Non-RESTful: “Give me the next page of results.”</a:t>
            </a:r>
          </a:p>
          <a:p>
            <a:pPr marL="742950" lvl="1" indent="-331788">
              <a:buSzPct val="80000"/>
              <a:buFont typeface="System Font Regular"/>
              <a:buChar char="✅"/>
            </a:pPr>
            <a:r>
              <a:rPr lang="en-US" sz="2000" dirty="0"/>
              <a:t>RESTful: “Give me page 2 of the results for User 123.”</a:t>
            </a:r>
          </a:p>
          <a:p>
            <a:pPr marL="406400" indent="-396875">
              <a:buSzPct val="80000"/>
              <a:buFont typeface="System Font Regular"/>
              <a:buChar char="📦"/>
            </a:pPr>
            <a:r>
              <a:rPr lang="en-US" sz="2400" dirty="0"/>
              <a:t>Each request must be self-contained</a:t>
            </a:r>
          </a:p>
          <a:p>
            <a:pPr marL="406400" indent="-396875">
              <a:buSzPct val="80000"/>
              <a:buFont typeface="System Font Regular"/>
              <a:buChar char="‼"/>
            </a:pPr>
            <a:r>
              <a:rPr lang="en-US" sz="2400" dirty="0"/>
              <a:t>Each response must contain all information to continue (e.g., number of pages)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49501D-7216-1E7F-DB77-E8EE7C1E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word on “Statelessness”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E6050-2945-A211-0653-F254ECDDFE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45BF5-E89F-623B-5F65-D9CF2A5617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4494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CD11-9223-58FA-1280-669D5BEF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Life-cycle of a typical backend API request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30FF6-EADC-EECE-0CBF-255B73F0AB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B19FF-9D75-9015-0F05-EACBF1C257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9C4142-AFC7-EA6C-5F60-12961BA16566}"/>
              </a:ext>
            </a:extLst>
          </p:cNvPr>
          <p:cNvGrpSpPr/>
          <p:nvPr/>
        </p:nvGrpSpPr>
        <p:grpSpPr>
          <a:xfrm>
            <a:off x="297641" y="2895600"/>
            <a:ext cx="1574647" cy="1273845"/>
            <a:chOff x="383078" y="2895600"/>
            <a:chExt cx="1574647" cy="1273845"/>
          </a:xfrm>
        </p:grpSpPr>
        <p:sp>
          <p:nvSpPr>
            <p:cNvPr id="6" name="Rounded Rectangular Callout 5">
              <a:extLst>
                <a:ext uri="{FF2B5EF4-FFF2-40B4-BE49-F238E27FC236}">
                  <a16:creationId xmlns:a16="http://schemas.microsoft.com/office/drawing/2014/main" id="{E88D8E57-228F-C038-8121-57E40D24A0EA}"/>
                </a:ext>
              </a:extLst>
            </p:cNvPr>
            <p:cNvSpPr/>
            <p:nvPr/>
          </p:nvSpPr>
          <p:spPr>
            <a:xfrm>
              <a:off x="827501" y="2895600"/>
              <a:ext cx="685800" cy="553240"/>
            </a:xfrm>
            <a:prstGeom prst="wedgeRoundRectCallout">
              <a:avLst>
                <a:gd name="adj1" fmla="val -44311"/>
                <a:gd name="adj2" fmla="val 81341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?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0A62711-7C24-ACE6-9A40-B2BBC767F2FB}"/>
                </a:ext>
              </a:extLst>
            </p:cNvPr>
            <p:cNvSpPr/>
            <p:nvPr/>
          </p:nvSpPr>
          <p:spPr>
            <a:xfrm>
              <a:off x="383078" y="3694926"/>
              <a:ext cx="1574647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Request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060EDE-32AF-5B2F-8D04-4A94EE2DF33D}"/>
              </a:ext>
            </a:extLst>
          </p:cNvPr>
          <p:cNvGrpSpPr/>
          <p:nvPr/>
        </p:nvGrpSpPr>
        <p:grpSpPr>
          <a:xfrm>
            <a:off x="10518860" y="2895600"/>
            <a:ext cx="1271549" cy="1257280"/>
            <a:chOff x="10518860" y="2895600"/>
            <a:chExt cx="1271549" cy="125728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6BDCB40-3425-1A38-93A6-FA3BF21C35FF}"/>
                </a:ext>
              </a:extLst>
            </p:cNvPr>
            <p:cNvSpPr/>
            <p:nvPr/>
          </p:nvSpPr>
          <p:spPr>
            <a:xfrm>
              <a:off x="10518860" y="3678361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Response</a:t>
              </a:r>
            </a:p>
          </p:txBody>
        </p: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BD3F3914-40E2-7778-449F-4D1BB66A9FA1}"/>
                </a:ext>
              </a:extLst>
            </p:cNvPr>
            <p:cNvSpPr/>
            <p:nvPr/>
          </p:nvSpPr>
          <p:spPr>
            <a:xfrm flipH="1">
              <a:off x="10811734" y="2895600"/>
              <a:ext cx="685800" cy="553240"/>
            </a:xfrm>
            <a:prstGeom prst="wedgeRoundRectCallout">
              <a:avLst>
                <a:gd name="adj1" fmla="val -44311"/>
                <a:gd name="adj2" fmla="val 81341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!</a:t>
              </a:r>
            </a:p>
          </p:txBody>
        </p:sp>
      </p:grpSp>
      <p:pic>
        <p:nvPicPr>
          <p:cNvPr id="16" name="Content Placeholder 9" descr="Database with solid fill">
            <a:extLst>
              <a:ext uri="{FF2B5EF4-FFF2-40B4-BE49-F238E27FC236}">
                <a16:creationId xmlns:a16="http://schemas.microsoft.com/office/drawing/2014/main" id="{2FB0E936-7704-931D-9C79-C240D2B4EF6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6404" y="4689344"/>
            <a:ext cx="923505" cy="923505"/>
          </a:xfr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241088-266E-DDA2-F0E3-75B91A5C4363}"/>
              </a:ext>
            </a:extLst>
          </p:cNvPr>
          <p:cNvSpPr/>
          <p:nvPr/>
        </p:nvSpPr>
        <p:spPr>
          <a:xfrm>
            <a:off x="9256062" y="5375590"/>
            <a:ext cx="1271549" cy="47451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National 2" panose="020B0504030502020203" pitchFamily="34" charset="77"/>
              </a:rPr>
              <a:t>Database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C4EC00-754D-7BC2-6D41-87DFC4913BAA}"/>
              </a:ext>
            </a:extLst>
          </p:cNvPr>
          <p:cNvGrpSpPr/>
          <p:nvPr/>
        </p:nvGrpSpPr>
        <p:grpSpPr>
          <a:xfrm>
            <a:off x="2164969" y="2630679"/>
            <a:ext cx="1198353" cy="1538765"/>
            <a:chOff x="2298845" y="2630679"/>
            <a:chExt cx="1198353" cy="153876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7F27D20-3074-2215-28BF-D680F70F1DF3}"/>
                </a:ext>
              </a:extLst>
            </p:cNvPr>
            <p:cNvSpPr/>
            <p:nvPr/>
          </p:nvSpPr>
          <p:spPr>
            <a:xfrm>
              <a:off x="2298845" y="3694925"/>
              <a:ext cx="1198353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Router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CA64403-B7B1-4191-747F-5C9BD4FEA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13144" y="2630679"/>
              <a:ext cx="969754" cy="9697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1B2BFF-E238-327D-7390-09B7763D7A95}"/>
              </a:ext>
            </a:extLst>
          </p:cNvPr>
          <p:cNvGrpSpPr/>
          <p:nvPr/>
        </p:nvGrpSpPr>
        <p:grpSpPr>
          <a:xfrm>
            <a:off x="3656003" y="2630679"/>
            <a:ext cx="1454631" cy="1538764"/>
            <a:chOff x="3660342" y="2630679"/>
            <a:chExt cx="1454631" cy="153876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A9B7AB4-A13B-489B-B7F7-FEE3560A1145}"/>
                </a:ext>
              </a:extLst>
            </p:cNvPr>
            <p:cNvSpPr/>
            <p:nvPr/>
          </p:nvSpPr>
          <p:spPr>
            <a:xfrm>
              <a:off x="3788481" y="3694924"/>
              <a:ext cx="1198353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Schema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64B0F4-6A06-895C-B83E-C5F4E949D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0342" y="2630679"/>
              <a:ext cx="1454631" cy="9697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483ADA-391D-EB85-97FB-B212FAE2DB9B}"/>
              </a:ext>
            </a:extLst>
          </p:cNvPr>
          <p:cNvGrpSpPr/>
          <p:nvPr/>
        </p:nvGrpSpPr>
        <p:grpSpPr>
          <a:xfrm>
            <a:off x="5434051" y="2588331"/>
            <a:ext cx="1271549" cy="1581112"/>
            <a:chOff x="5520556" y="2588331"/>
            <a:chExt cx="1271549" cy="158111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7FEDB53-07BD-A4E4-21F9-2730EE00473E}"/>
                </a:ext>
              </a:extLst>
            </p:cNvPr>
            <p:cNvSpPr/>
            <p:nvPr/>
          </p:nvSpPr>
          <p:spPr>
            <a:xfrm>
              <a:off x="5520556" y="3694924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Controller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377491-82AA-3CA3-4D37-44E638D23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751345" y="2588331"/>
              <a:ext cx="809971" cy="101210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05981C-09B8-362B-F778-BC3AB781F715}"/>
              </a:ext>
            </a:extLst>
          </p:cNvPr>
          <p:cNvGrpSpPr/>
          <p:nvPr/>
        </p:nvGrpSpPr>
        <p:grpSpPr>
          <a:xfrm>
            <a:off x="7110451" y="2588331"/>
            <a:ext cx="1271549" cy="1571175"/>
            <a:chOff x="7090853" y="2588331"/>
            <a:chExt cx="1271549" cy="157117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5954844-198C-E8AC-7D39-859BBB8DAAEA}"/>
                </a:ext>
              </a:extLst>
            </p:cNvPr>
            <p:cNvSpPr/>
            <p:nvPr/>
          </p:nvSpPr>
          <p:spPr>
            <a:xfrm>
              <a:off x="7090853" y="3684987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Service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AD7471B-2379-48B0-FCEA-36883CA1E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220576" y="2588331"/>
              <a:ext cx="1012102" cy="101210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D87CEF-5478-A460-7D14-E63BF3871D66}"/>
              </a:ext>
            </a:extLst>
          </p:cNvPr>
          <p:cNvGrpSpPr/>
          <p:nvPr/>
        </p:nvGrpSpPr>
        <p:grpSpPr>
          <a:xfrm>
            <a:off x="8708026" y="2588332"/>
            <a:ext cx="1518151" cy="1571174"/>
            <a:chOff x="8768414" y="2588332"/>
            <a:chExt cx="1518151" cy="157117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CE30CE6-18C5-F0FD-28CB-2FA398B314B1}"/>
                </a:ext>
              </a:extLst>
            </p:cNvPr>
            <p:cNvSpPr/>
            <p:nvPr/>
          </p:nvSpPr>
          <p:spPr>
            <a:xfrm>
              <a:off x="8891715" y="3684987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Model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869A750-BFF3-F4A2-2140-B48C183C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768414" y="2588332"/>
              <a:ext cx="1518151" cy="101210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29" name="Right Arrow 28">
            <a:extLst>
              <a:ext uri="{FF2B5EF4-FFF2-40B4-BE49-F238E27FC236}">
                <a16:creationId xmlns:a16="http://schemas.microsoft.com/office/drawing/2014/main" id="{D52AC9DF-4F05-8A06-6CFF-D42D0F18C8C6}"/>
              </a:ext>
            </a:extLst>
          </p:cNvPr>
          <p:cNvSpPr/>
          <p:nvPr/>
        </p:nvSpPr>
        <p:spPr>
          <a:xfrm>
            <a:off x="1783969" y="3033154"/>
            <a:ext cx="381000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E1958BC6-4E44-86D1-7C6B-B868D1DD151F}"/>
              </a:ext>
            </a:extLst>
          </p:cNvPr>
          <p:cNvSpPr/>
          <p:nvPr/>
        </p:nvSpPr>
        <p:spPr>
          <a:xfrm>
            <a:off x="3305066" y="3033154"/>
            <a:ext cx="297990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30619FD8-40D7-CB74-2035-F81F201D1CF7}"/>
              </a:ext>
            </a:extLst>
          </p:cNvPr>
          <p:cNvSpPr/>
          <p:nvPr/>
        </p:nvSpPr>
        <p:spPr>
          <a:xfrm>
            <a:off x="5210138" y="3033154"/>
            <a:ext cx="352462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3272487-EA29-F668-71E8-2D6269AA076A}"/>
              </a:ext>
            </a:extLst>
          </p:cNvPr>
          <p:cNvSpPr/>
          <p:nvPr/>
        </p:nvSpPr>
        <p:spPr>
          <a:xfrm>
            <a:off x="6631658" y="3033154"/>
            <a:ext cx="488635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29780AAE-7D1F-F95D-2665-1AD94B9F07DF}"/>
              </a:ext>
            </a:extLst>
          </p:cNvPr>
          <p:cNvSpPr/>
          <p:nvPr/>
        </p:nvSpPr>
        <p:spPr>
          <a:xfrm>
            <a:off x="10326677" y="3033154"/>
            <a:ext cx="341323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35EFC53D-6024-4BB8-147E-1851ED441A92}"/>
              </a:ext>
            </a:extLst>
          </p:cNvPr>
          <p:cNvSpPr/>
          <p:nvPr/>
        </p:nvSpPr>
        <p:spPr>
          <a:xfrm>
            <a:off x="8440909" y="3033154"/>
            <a:ext cx="241553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417F4E13-EC72-1B95-6E68-8BF1EA8319FC}"/>
              </a:ext>
            </a:extLst>
          </p:cNvPr>
          <p:cNvSpPr/>
          <p:nvPr/>
        </p:nvSpPr>
        <p:spPr>
          <a:xfrm rot="16200000">
            <a:off x="9176511" y="4333305"/>
            <a:ext cx="483291" cy="30480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47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Python Logo | Python Software Foundation">
            <a:extLst>
              <a:ext uri="{FF2B5EF4-FFF2-40B4-BE49-F238E27FC236}">
                <a16:creationId xmlns:a16="http://schemas.microsoft.com/office/drawing/2014/main" id="{D8335043-2A98-07D4-6036-1F59746D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23" y="5255345"/>
            <a:ext cx="2467917" cy="83074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7ACEDB-9A94-15F5-273A-4BE834D94C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National 2 Medium" panose="020B0504030502020203" pitchFamily="34" charset="77"/>
              </a:rPr>
              <a:t>Today’s stack:</a:t>
            </a:r>
          </a:p>
          <a:p>
            <a:r>
              <a:rPr lang="en-US" dirty="0" err="1">
                <a:latin typeface="National 2 Medium" panose="020B0504030502020203" pitchFamily="34" charset="77"/>
              </a:rPr>
              <a:t>FastAPI</a:t>
            </a:r>
            <a:r>
              <a:rPr lang="en-US" dirty="0"/>
              <a:t>: Handling routers, controllers, HTTP request mapping</a:t>
            </a:r>
          </a:p>
          <a:p>
            <a:r>
              <a:rPr lang="en-US" dirty="0" err="1">
                <a:latin typeface="National 2 Medium" panose="020B0504030502020203" pitchFamily="34" charset="77"/>
              </a:rPr>
              <a:t>SQLModel</a:t>
            </a:r>
            <a:r>
              <a:rPr lang="en-US" dirty="0"/>
              <a:t>: Handling schemas, models, and database I/O</a:t>
            </a:r>
          </a:p>
          <a:p>
            <a:r>
              <a:rPr lang="en-US" dirty="0">
                <a:latin typeface="National 2 Medium" panose="020B0504030502020203" pitchFamily="34" charset="77"/>
              </a:rPr>
              <a:t>Plain Python</a:t>
            </a:r>
            <a:r>
              <a:rPr lang="en-US" dirty="0"/>
              <a:t>: Implementation of services</a:t>
            </a:r>
          </a:p>
          <a:p>
            <a:r>
              <a:rPr lang="en-US" dirty="0">
                <a:latin typeface="National 2 Medium" panose="020B0504030502020203" pitchFamily="34" charset="77"/>
              </a:rPr>
              <a:t>SQLite</a:t>
            </a:r>
            <a:r>
              <a:rPr lang="en-US" dirty="0"/>
              <a:t>: database engine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DFCE5-D1B3-9466-447F-EBE817E2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RESTful APIs in Python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8DBF3-3D2A-1D6C-63DC-CA17FA0039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69C01-09A6-487A-791E-F060E4CAA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  <p:pic>
        <p:nvPicPr>
          <p:cNvPr id="6" name="Picture 5" descr="File:SQLite370.svg - Wikimedia Commons">
            <a:extLst>
              <a:ext uri="{FF2B5EF4-FFF2-40B4-BE49-F238E27FC236}">
                <a16:creationId xmlns:a16="http://schemas.microsoft.com/office/drawing/2014/main" id="{68509533-4217-C17A-5C1B-7188A26E7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816673"/>
            <a:ext cx="1652656" cy="782429"/>
          </a:xfrm>
          <a:prstGeom prst="rect">
            <a:avLst/>
          </a:prstGeom>
        </p:spPr>
      </p:pic>
      <p:pic>
        <p:nvPicPr>
          <p:cNvPr id="7" name="Picture 6" descr="FastAPI logo">
            <a:extLst>
              <a:ext uri="{FF2B5EF4-FFF2-40B4-BE49-F238E27FC236}">
                <a16:creationId xmlns:a16="http://schemas.microsoft.com/office/drawing/2014/main" id="{B7C0E544-DBFB-F4D7-476D-04B03B54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3810000"/>
            <a:ext cx="3005344" cy="1084671"/>
          </a:xfrm>
          <a:prstGeom prst="rect">
            <a:avLst/>
          </a:prstGeom>
        </p:spPr>
      </p:pic>
      <p:pic>
        <p:nvPicPr>
          <p:cNvPr id="8" name="Graphic 7" descr="SQLModel">
            <a:extLst>
              <a:ext uri="{FF2B5EF4-FFF2-40B4-BE49-F238E27FC236}">
                <a16:creationId xmlns:a16="http://schemas.microsoft.com/office/drawing/2014/main" id="{E21DE765-E9A5-6531-EAC6-B90C2180C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0081" y="4586046"/>
            <a:ext cx="3005344" cy="8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84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586D7B-0A4A-54FB-8CE8-687917B7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Let’s get into it!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A048C-D46F-B013-C8F2-1DD3C3E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607A6-3D9A-C973-4320-3357E38C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51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8D359ED-81E1-4152-B5FF-BC60446F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A763-8648-4E79-A29B-28D21C77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1673-B619-48AC-86E7-428A4A84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5817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rtmouth">
  <a:themeElements>
    <a:clrScheme name="Custom 4">
      <a:dk1>
        <a:srgbClr val="000000"/>
      </a:dk1>
      <a:lt1>
        <a:srgbClr val="FFFFFF"/>
      </a:lt1>
      <a:dk2>
        <a:srgbClr val="797979"/>
      </a:dk2>
      <a:lt2>
        <a:srgbClr val="D9D9D9"/>
      </a:lt2>
      <a:accent1>
        <a:srgbClr val="00693E"/>
      </a:accent1>
      <a:accent2>
        <a:srgbClr val="12312B"/>
      </a:accent2>
      <a:accent3>
        <a:srgbClr val="C3DD88"/>
      </a:accent3>
      <a:accent4>
        <a:srgbClr val="6EAA8D"/>
      </a:accent4>
      <a:accent5>
        <a:srgbClr val="797979"/>
      </a:accent5>
      <a:accent6>
        <a:srgbClr val="EBF3EF"/>
      </a:accent6>
      <a:hlink>
        <a:srgbClr val="00693E"/>
      </a:hlink>
      <a:folHlink>
        <a:srgbClr val="1231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9BDFE68F-32AD-624C-A23D-A8B43BC3826E}" vid="{B888FB7D-3126-4C4C-9BB5-7BAF71B92B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Dartmouth</Template>
  <TotalTime>3756</TotalTime>
  <Words>1011</Words>
  <Application>Microsoft Macintosh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Cascadia Mono</vt:lpstr>
      <vt:lpstr>Consolas</vt:lpstr>
      <vt:lpstr>Lucida Grande</vt:lpstr>
      <vt:lpstr>National 2</vt:lpstr>
      <vt:lpstr>National 2 Medium</vt:lpstr>
      <vt:lpstr>System Font Regular</vt:lpstr>
      <vt:lpstr>ui-monospace</vt:lpstr>
      <vt:lpstr>Dartmouth</vt:lpstr>
      <vt:lpstr>PowerPoint Presentation</vt:lpstr>
      <vt:lpstr>RESTful APIs with Python A DevCouRSE Workshop  </vt:lpstr>
      <vt:lpstr>See APIs in action</vt:lpstr>
      <vt:lpstr>What is an API?</vt:lpstr>
      <vt:lpstr>What is an interface? (in software design)</vt:lpstr>
      <vt:lpstr>What is an interface? (in software design)</vt:lpstr>
      <vt:lpstr>What is an API?</vt:lpstr>
      <vt:lpstr>Why (web) APIs?</vt:lpstr>
      <vt:lpstr>RESTful APIs</vt:lpstr>
      <vt:lpstr>RESTful APIs</vt:lpstr>
      <vt:lpstr>REST Actions &lt;-&gt; HTTP Methods</vt:lpstr>
      <vt:lpstr>REST APIs and Databases</vt:lpstr>
      <vt:lpstr>A word on “Statelessness”</vt:lpstr>
      <vt:lpstr>Life-cycle of a typical backend API request</vt:lpstr>
      <vt:lpstr>Implementing RESTful APIs in Python</vt:lpstr>
      <vt:lpstr>Let’s get into it!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Simon Stone</dc:creator>
  <cp:keywords/>
  <dc:description/>
  <cp:lastModifiedBy>Simon Stone</cp:lastModifiedBy>
  <cp:revision>145</cp:revision>
  <cp:lastPrinted>2018-02-22T17:02:12Z</cp:lastPrinted>
  <dcterms:created xsi:type="dcterms:W3CDTF">2025-10-29T18:55:51Z</dcterms:created>
  <dcterms:modified xsi:type="dcterms:W3CDTF">2026-08-25T16:18:34Z</dcterms:modified>
  <cp:category/>
</cp:coreProperties>
</file>